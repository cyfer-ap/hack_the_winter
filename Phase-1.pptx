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embeddedFontLst>
    <p:embeddedFont>
      <p:font typeface="Nunito Bold" panose="020B0604020202020204" charset="0"/>
      <p:regular r:id="rId12"/>
    </p:embeddedFont>
    <p:embeddedFont>
      <p:font typeface="PT Sans" panose="020B0503020203020204" pitchFamily="34" charset="0"/>
      <p:regular r:id="rId13"/>
      <p:bold r:id="rId14"/>
      <p:italic r:id="rId15"/>
      <p:boldItalic r:id="rId16"/>
    </p:embeddedFont>
    <p:embeddedFont>
      <p:font typeface="PT Sans Bold" panose="020B0703020203020204" pitchFamily="34" charset="0"/>
      <p:regular r:id="rId17"/>
      <p:bold r:id="rId18"/>
    </p:embeddedFont>
    <p:embeddedFont>
      <p:font typeface="PT Sans Italics" panose="020B0604020202020204" charset="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50" d="100"/>
          <a:sy n="50" d="100"/>
        </p:scale>
        <p:origin x="946" y="12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 descr="preencoded.png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3F3FF">
                <a:alpha val="56078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7905159" y="2346122"/>
            <a:ext cx="7040613" cy="908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875"/>
              </a:lnSpc>
            </a:pPr>
            <a:r>
              <a:rPr lang="en-US" sz="5500" b="1" dirty="0">
                <a:solidFill>
                  <a:srgbClr val="00002E"/>
                </a:solidFill>
                <a:latin typeface="Nunito Bold"/>
                <a:ea typeface="Nunito Bold"/>
                <a:cs typeface="Nunito Bold"/>
                <a:sym typeface="Nunito Bold"/>
              </a:rPr>
              <a:t>Sentinel-LEWS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05159" y="3355334"/>
            <a:ext cx="9335691" cy="8989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 dirty="0">
                <a:solidFill>
                  <a:srgbClr val="00002E"/>
                </a:solidFill>
                <a:latin typeface="Nunito Bold"/>
                <a:ea typeface="Nunito Bold"/>
                <a:cs typeface="Nunito Bold"/>
                <a:sym typeface="Nunito Bold"/>
              </a:rPr>
              <a:t>Rapid-Response Geo-Intelligence for Landslide Early Warning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905159" y="4607719"/>
            <a:ext cx="9335691" cy="2010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50"/>
              </a:lnSpc>
            </a:pPr>
            <a:r>
              <a:rPr lang="en-US" sz="2312" dirty="0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Sentinel-LEWS is a critical initiative (POOL-2026) focused on delivering hyper-local landslide risk prediction with unparalleled precision. Our system provides a 6-hour early warning at a 100 m² resolution, operating fully edge-native and offline to ensure reliability when it matters most.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905159" y="6859343"/>
            <a:ext cx="9335691" cy="1052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50"/>
              </a:lnSpc>
            </a:pPr>
            <a:r>
              <a:rPr lang="en-US" sz="2312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Our primary target user is the District Disaster Management Officer, who requires immediate, actionable intelligence to protect communities.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8D2304-57E1-8DFB-9608-FFC1CA05D069}"/>
              </a:ext>
            </a:extLst>
          </p:cNvPr>
          <p:cNvSpPr txBox="1"/>
          <p:nvPr/>
        </p:nvSpPr>
        <p:spPr>
          <a:xfrm>
            <a:off x="7905159" y="8496300"/>
            <a:ext cx="9011241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Team Name: Team_Genz</a:t>
            </a:r>
            <a:br>
              <a:rPr lang="en-US" sz="2000" dirty="0"/>
            </a:br>
            <a:r>
              <a:rPr lang="en-US" sz="2000" b="1" dirty="0"/>
              <a:t>Hackathon: </a:t>
            </a:r>
            <a:r>
              <a:rPr lang="en-US" sz="2000" dirty="0"/>
              <a:t>Hack The Winter</a:t>
            </a:r>
            <a:br>
              <a:rPr lang="en-US" sz="2000" dirty="0"/>
            </a:br>
            <a:r>
              <a:rPr lang="en-US" sz="2000" b="1" dirty="0"/>
              <a:t>Theme:</a:t>
            </a:r>
            <a:r>
              <a:rPr lang="en-US" sz="2000" dirty="0"/>
              <a:t> Disaster Resilience / Governance</a:t>
            </a:r>
            <a:br>
              <a:rPr lang="en-US" sz="2000" dirty="0"/>
            </a:br>
            <a:r>
              <a:rPr lang="en-US" sz="2000" b="1" dirty="0"/>
              <a:t>Domain:</a:t>
            </a:r>
            <a:r>
              <a:rPr lang="en-US" sz="2000" dirty="0"/>
              <a:t> Machine Learning + IoT + Early Warning Systems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791D935-7899-D111-4F00-2865FA0EDC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240" y="0"/>
            <a:ext cx="748284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 descr="preencoded.png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166" y="-15240"/>
            <a:ext cx="18288000" cy="10287000"/>
            <a:chOff x="0" y="0"/>
            <a:chExt cx="24384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3F3FF">
                <a:alpha val="56078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Freeform 5" descr="preencoded.png">
            <a:hlinkClick r:id="rId3" tooltip="https://gamma.app/?utm_source=made-with-gamma"/>
          </p:cNvPr>
          <p:cNvSpPr/>
          <p:nvPr/>
        </p:nvSpPr>
        <p:spPr>
          <a:xfrm>
            <a:off x="16049015" y="9686925"/>
            <a:ext cx="2153260" cy="514350"/>
          </a:xfrm>
          <a:custGeom>
            <a:avLst/>
            <a:gdLst/>
            <a:ahLst/>
            <a:cxnLst/>
            <a:rect l="l" t="t" r="r" b="b"/>
            <a:pathLst>
              <a:path w="2153260" h="514350">
                <a:moveTo>
                  <a:pt x="0" y="0"/>
                </a:moveTo>
                <a:lnTo>
                  <a:pt x="2153260" y="0"/>
                </a:lnTo>
                <a:lnTo>
                  <a:pt x="2153260" y="514350"/>
                </a:lnTo>
                <a:lnTo>
                  <a:pt x="0" y="5143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1047159" y="1467145"/>
            <a:ext cx="9335691" cy="17886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875"/>
              </a:lnSpc>
            </a:pPr>
            <a:r>
              <a:rPr lang="en-US" sz="5500" b="1" dirty="0">
                <a:solidFill>
                  <a:srgbClr val="00002E"/>
                </a:solidFill>
                <a:latin typeface="Nunito Bold"/>
                <a:ea typeface="Nunito Bold"/>
                <a:cs typeface="Nunito Bold"/>
                <a:sym typeface="Nunito Bold"/>
              </a:rPr>
              <a:t>Why Landslides Are Still Deadly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47159" y="3609232"/>
            <a:ext cx="9335691" cy="1531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50"/>
              </a:lnSpc>
            </a:pPr>
            <a:r>
              <a:rPr lang="en-US" sz="2312" dirty="0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India’s hilly regions face devastating and sudden landslides, often leading to significant loss of life and property. Existing early warning systems fall short: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47159" y="5382073"/>
            <a:ext cx="9335691" cy="1052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8754" lvl="1" indent="-174377" algn="l">
              <a:lnSpc>
                <a:spcPts val="3750"/>
              </a:lnSpc>
              <a:buFont typeface="Arial"/>
              <a:buChar char="•"/>
            </a:pPr>
            <a:r>
              <a:rPr lang="en-US" sz="2312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They operate at a district level, offering predictions that are too coarse for effective localized response.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47159" y="6444253"/>
            <a:ext cx="9335691" cy="1052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8754" lvl="1" indent="-174377" algn="l">
              <a:lnSpc>
                <a:spcPts val="3750"/>
              </a:lnSpc>
              <a:buFont typeface="Arial"/>
              <a:buChar char="•"/>
            </a:pPr>
            <a:r>
              <a:rPr lang="en-US" sz="2312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Many are cloud-dependent, rendering them useless during critical monsoon-induced network outages.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47159" y="7738320"/>
            <a:ext cx="9335691" cy="1052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50"/>
              </a:lnSpc>
            </a:pPr>
            <a:r>
              <a:rPr lang="en-US" sz="2312" b="1">
                <a:solidFill>
                  <a:srgbClr val="00002E"/>
                </a:solidFill>
                <a:latin typeface="PT Sans Bold"/>
                <a:ea typeface="PT Sans Bold"/>
                <a:cs typeface="PT Sans Bold"/>
                <a:sym typeface="PT Sans Bold"/>
              </a:rPr>
              <a:t>The key failure is a lack of systems that work locally, offline, and at a hyper-local scale, leaving vulnerable communities exposed.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447483F-F72E-DF38-EF65-891F37E5AF3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01401" y="-7620"/>
            <a:ext cx="7117080" cy="102946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 descr="preencoded.png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3F3FF">
                <a:alpha val="56078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7876880" y="781498"/>
            <a:ext cx="9392241" cy="17314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687"/>
              </a:lnSpc>
            </a:pPr>
            <a:r>
              <a:rPr lang="en-US" sz="5374" b="1" dirty="0">
                <a:solidFill>
                  <a:srgbClr val="00002E"/>
                </a:solidFill>
                <a:latin typeface="Nunito Bold"/>
                <a:ea typeface="Nunito Bold"/>
                <a:cs typeface="Nunito Bold"/>
                <a:sym typeface="Nunito Bold"/>
              </a:rPr>
              <a:t>User Story &amp; Hard Constraints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313534" y="3181798"/>
            <a:ext cx="8955586" cy="14923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24"/>
              </a:lnSpc>
            </a:pPr>
            <a:r>
              <a:rPr lang="en-US" sz="2249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As a District Officer, I want to predict landslide risks at a 100m² resolution using fused sensor data to issue hyper-local evacuation alerts 6 hours before an event.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7876880" y="2949626"/>
            <a:ext cx="38100" cy="2051895"/>
            <a:chOff x="0" y="0"/>
            <a:chExt cx="50800" cy="273585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0800" cy="2735834"/>
            </a:xfrm>
            <a:custGeom>
              <a:avLst/>
              <a:gdLst/>
              <a:ahLst/>
              <a:cxnLst/>
              <a:rect l="l" t="t" r="r" b="b"/>
              <a:pathLst>
                <a:path w="50800" h="2735834">
                  <a:moveTo>
                    <a:pt x="0" y="0"/>
                  </a:moveTo>
                  <a:lnTo>
                    <a:pt x="50800" y="0"/>
                  </a:lnTo>
                  <a:lnTo>
                    <a:pt x="50800" y="2735834"/>
                  </a:lnTo>
                  <a:lnTo>
                    <a:pt x="0" y="2735834"/>
                  </a:lnTo>
                  <a:close/>
                </a:path>
              </a:pathLst>
            </a:custGeom>
            <a:solidFill>
              <a:srgbClr val="2D4DF2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7876880" y="5428659"/>
            <a:ext cx="6906368" cy="5232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99"/>
              </a:lnSpc>
            </a:pPr>
            <a:r>
              <a:rPr lang="en-US" sz="3187" b="1">
                <a:solidFill>
                  <a:srgbClr val="00002E"/>
                </a:solidFill>
                <a:latin typeface="Nunito Bold"/>
                <a:ea typeface="Nunito Bold"/>
                <a:cs typeface="Nunito Bold"/>
                <a:sym typeface="Nunito Bold"/>
              </a:rPr>
              <a:t>Hard Constraints for Sentinel-LEWS: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914980" y="6599343"/>
            <a:ext cx="9392241" cy="560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9328" lvl="1" indent="-169664" algn="l">
              <a:lnSpc>
                <a:spcPts val="3624"/>
              </a:lnSpc>
              <a:buFont typeface="Arial"/>
              <a:buChar char="•"/>
            </a:pPr>
            <a:r>
              <a:rPr lang="en-US" sz="2249" b="1" dirty="0">
                <a:solidFill>
                  <a:srgbClr val="00002E"/>
                </a:solidFill>
                <a:latin typeface="PT Sans Bold"/>
                <a:ea typeface="PT Sans Bold"/>
                <a:cs typeface="PT Sans Bold"/>
                <a:sym typeface="PT Sans Bold"/>
              </a:rPr>
              <a:t>Response Time:</a:t>
            </a:r>
            <a:r>
              <a:rPr lang="en-US" sz="2249" dirty="0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 Less than 15 seconds for a 500 km² area.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876879" y="7207215"/>
            <a:ext cx="9392241" cy="10266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9328" lvl="1" indent="-169664" algn="l">
              <a:lnSpc>
                <a:spcPts val="3624"/>
              </a:lnSpc>
              <a:buFont typeface="Arial"/>
              <a:buChar char="•"/>
            </a:pPr>
            <a:r>
              <a:rPr lang="en-US" sz="2249" b="1" dirty="0">
                <a:solidFill>
                  <a:srgbClr val="00002E"/>
                </a:solidFill>
                <a:latin typeface="PT Sans Bold"/>
                <a:ea typeface="PT Sans Bold"/>
                <a:cs typeface="PT Sans Bold"/>
                <a:sym typeface="PT Sans Bold"/>
              </a:rPr>
              <a:t>Model Size:</a:t>
            </a:r>
            <a:r>
              <a:rPr lang="en-US" sz="2249" dirty="0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 Model must be under 50 MB for edge hardware deployment.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876880" y="7893996"/>
            <a:ext cx="9392241" cy="560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9328" lvl="1" indent="-169664" algn="l">
              <a:lnSpc>
                <a:spcPts val="3624"/>
              </a:lnSpc>
              <a:buFont typeface="Arial"/>
              <a:buChar char="•"/>
            </a:pPr>
            <a:r>
              <a:rPr lang="en-US" sz="2249" b="1">
                <a:solidFill>
                  <a:srgbClr val="00002E"/>
                </a:solidFill>
                <a:latin typeface="PT Sans Bold"/>
                <a:ea typeface="PT Sans Bold"/>
                <a:cs typeface="PT Sans Bold"/>
                <a:sym typeface="PT Sans Bold"/>
              </a:rPr>
              <a:t>Data Synchronization:</a:t>
            </a:r>
            <a:r>
              <a:rPr lang="en-US" sz="2249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 Requires 256 kbps VSAT sync capability.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876880" y="8461477"/>
            <a:ext cx="9392241" cy="10266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9328" lvl="1" indent="-169664" algn="l">
              <a:lnSpc>
                <a:spcPts val="3624"/>
              </a:lnSpc>
              <a:buFont typeface="Arial"/>
              <a:buChar char="•"/>
            </a:pPr>
            <a:r>
              <a:rPr lang="en-US" sz="2249" b="1" dirty="0">
                <a:solidFill>
                  <a:srgbClr val="00002E"/>
                </a:solidFill>
                <a:latin typeface="PT Sans Bold"/>
                <a:ea typeface="PT Sans Bold"/>
                <a:cs typeface="PT Sans Bold"/>
                <a:sym typeface="PT Sans Bold"/>
              </a:rPr>
              <a:t>Operational Independence:</a:t>
            </a:r>
            <a:r>
              <a:rPr lang="en-US" sz="2249" dirty="0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 Absolutely no cloud dependency for core functions.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D60C64F-3EA4-4BB7-C1C8-67983F0B9A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33262"/>
            <a:ext cx="7294655" cy="1025373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 descr="preencoded.png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3F3FF">
                <a:alpha val="56078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047159" y="1862585"/>
            <a:ext cx="10696013" cy="9085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875"/>
              </a:lnSpc>
            </a:pPr>
            <a:r>
              <a:rPr lang="en-US" sz="5500" b="1" dirty="0">
                <a:solidFill>
                  <a:srgbClr val="00002E"/>
                </a:solidFill>
                <a:latin typeface="Nunito Bold"/>
                <a:ea typeface="Nunito Bold"/>
                <a:cs typeface="Nunito Bold"/>
                <a:sym typeface="Nunito Bold"/>
              </a:rPr>
              <a:t>Real-World Challenges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1047159" y="3818334"/>
            <a:ext cx="5198421" cy="4577353"/>
            <a:chOff x="0" y="0"/>
            <a:chExt cx="6931228" cy="6103137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6931279" cy="6103112"/>
            </a:xfrm>
            <a:custGeom>
              <a:avLst/>
              <a:gdLst/>
              <a:ahLst/>
              <a:cxnLst/>
              <a:rect l="l" t="t" r="r" b="b"/>
              <a:pathLst>
                <a:path w="6931279" h="6103112">
                  <a:moveTo>
                    <a:pt x="0" y="243840"/>
                  </a:moveTo>
                  <a:cubicBezTo>
                    <a:pt x="0" y="109220"/>
                    <a:pt x="109220" y="0"/>
                    <a:pt x="243840" y="0"/>
                  </a:cubicBezTo>
                  <a:lnTo>
                    <a:pt x="6687439" y="0"/>
                  </a:lnTo>
                  <a:cubicBezTo>
                    <a:pt x="6822059" y="0"/>
                    <a:pt x="6931279" y="109220"/>
                    <a:pt x="6931279" y="243840"/>
                  </a:cubicBezTo>
                  <a:lnTo>
                    <a:pt x="6931279" y="5859272"/>
                  </a:lnTo>
                  <a:cubicBezTo>
                    <a:pt x="6931279" y="5993892"/>
                    <a:pt x="6822059" y="6103112"/>
                    <a:pt x="6687439" y="6103112"/>
                  </a:cubicBezTo>
                  <a:lnTo>
                    <a:pt x="243840" y="6103112"/>
                  </a:lnTo>
                  <a:cubicBezTo>
                    <a:pt x="109220" y="6103112"/>
                    <a:pt x="0" y="5993892"/>
                    <a:pt x="0" y="5859272"/>
                  </a:cubicBezTo>
                  <a:close/>
                </a:path>
              </a:pathLst>
            </a:custGeom>
            <a:solidFill>
              <a:srgbClr val="F3F3FF">
                <a:alpha val="56078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47159" y="3780234"/>
            <a:ext cx="5198421" cy="152400"/>
            <a:chOff x="0" y="0"/>
            <a:chExt cx="6931228" cy="2032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931279" cy="203200"/>
            </a:xfrm>
            <a:custGeom>
              <a:avLst/>
              <a:gdLst/>
              <a:ahLst/>
              <a:cxnLst/>
              <a:rect l="l" t="t" r="r" b="b"/>
              <a:pathLst>
                <a:path w="6931279" h="203200">
                  <a:moveTo>
                    <a:pt x="0" y="101600"/>
                  </a:moveTo>
                  <a:cubicBezTo>
                    <a:pt x="0" y="45466"/>
                    <a:pt x="45466" y="0"/>
                    <a:pt x="101600" y="0"/>
                  </a:cubicBezTo>
                  <a:lnTo>
                    <a:pt x="6829679" y="0"/>
                  </a:lnTo>
                  <a:cubicBezTo>
                    <a:pt x="6885813" y="0"/>
                    <a:pt x="6931279" y="45466"/>
                    <a:pt x="6931279" y="101600"/>
                  </a:cubicBezTo>
                  <a:cubicBezTo>
                    <a:pt x="6931279" y="157734"/>
                    <a:pt x="6885813" y="203200"/>
                    <a:pt x="6829679" y="203200"/>
                  </a:cubicBezTo>
                  <a:lnTo>
                    <a:pt x="101600" y="203200"/>
                  </a:lnTo>
                  <a:cubicBezTo>
                    <a:pt x="45466" y="203200"/>
                    <a:pt x="0" y="157734"/>
                    <a:pt x="0" y="101600"/>
                  </a:cubicBezTo>
                  <a:close/>
                </a:path>
              </a:pathLst>
            </a:custGeom>
            <a:solidFill>
              <a:srgbClr val="2D4DF2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3197495" y="3369621"/>
            <a:ext cx="897579" cy="897579"/>
            <a:chOff x="0" y="0"/>
            <a:chExt cx="1196772" cy="119677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196721" cy="1196721"/>
            </a:xfrm>
            <a:custGeom>
              <a:avLst/>
              <a:gdLst/>
              <a:ahLst/>
              <a:cxnLst/>
              <a:rect l="l" t="t" r="r" b="b"/>
              <a:pathLst>
                <a:path w="1196721" h="1196721">
                  <a:moveTo>
                    <a:pt x="0" y="598424"/>
                  </a:moveTo>
                  <a:cubicBezTo>
                    <a:pt x="0" y="267970"/>
                    <a:pt x="267970" y="0"/>
                    <a:pt x="598424" y="0"/>
                  </a:cubicBezTo>
                  <a:cubicBezTo>
                    <a:pt x="928878" y="0"/>
                    <a:pt x="1196721" y="267970"/>
                    <a:pt x="1196721" y="598424"/>
                  </a:cubicBezTo>
                  <a:cubicBezTo>
                    <a:pt x="1196721" y="928878"/>
                    <a:pt x="928878" y="1196721"/>
                    <a:pt x="598424" y="1196721"/>
                  </a:cubicBezTo>
                  <a:cubicBezTo>
                    <a:pt x="267970" y="1196721"/>
                    <a:pt x="0" y="928878"/>
                    <a:pt x="0" y="598424"/>
                  </a:cubicBezTo>
                  <a:close/>
                </a:path>
              </a:pathLst>
            </a:custGeom>
            <a:solidFill>
              <a:srgbClr val="2D4DF2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3466729" y="3489274"/>
            <a:ext cx="358978" cy="5534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99"/>
              </a:lnSpc>
            </a:pPr>
            <a:r>
              <a:rPr lang="en-US" sz="2812" b="1">
                <a:solidFill>
                  <a:srgbClr val="FFFFFF"/>
                </a:solidFill>
                <a:latin typeface="Nunito Bold"/>
                <a:ea typeface="Nunito Bold"/>
                <a:cs typeface="Nunito Bold"/>
                <a:sym typeface="Nunito Bold"/>
              </a:rPr>
              <a:t>1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384402" y="4547292"/>
            <a:ext cx="3520230" cy="458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00002E"/>
                </a:solidFill>
                <a:latin typeface="Nunito Bold"/>
                <a:ea typeface="Nunito Bold"/>
                <a:cs typeface="Nunito Bold"/>
                <a:sym typeface="Nunito Bold"/>
              </a:rPr>
              <a:t>Data Heterogeneity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84402" y="5090522"/>
            <a:ext cx="4523927" cy="29679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50"/>
              </a:lnSpc>
            </a:pPr>
            <a:r>
              <a:rPr lang="en-US" sz="2312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We grapple with diverse data sources: rainfall data at 25 km grids, terrain data from 30 m Digital Elevation Models (DEMs), and sensor data that is often noisy and sparse.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6544713" y="3818334"/>
            <a:ext cx="5198421" cy="4577353"/>
            <a:chOff x="0" y="0"/>
            <a:chExt cx="6931228" cy="6103137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6931279" cy="6103112"/>
            </a:xfrm>
            <a:custGeom>
              <a:avLst/>
              <a:gdLst/>
              <a:ahLst/>
              <a:cxnLst/>
              <a:rect l="l" t="t" r="r" b="b"/>
              <a:pathLst>
                <a:path w="6931279" h="6103112">
                  <a:moveTo>
                    <a:pt x="0" y="243840"/>
                  </a:moveTo>
                  <a:cubicBezTo>
                    <a:pt x="0" y="109220"/>
                    <a:pt x="109220" y="0"/>
                    <a:pt x="243840" y="0"/>
                  </a:cubicBezTo>
                  <a:lnTo>
                    <a:pt x="6687439" y="0"/>
                  </a:lnTo>
                  <a:cubicBezTo>
                    <a:pt x="6822059" y="0"/>
                    <a:pt x="6931279" y="109220"/>
                    <a:pt x="6931279" y="243840"/>
                  </a:cubicBezTo>
                  <a:lnTo>
                    <a:pt x="6931279" y="5859272"/>
                  </a:lnTo>
                  <a:cubicBezTo>
                    <a:pt x="6931279" y="5993892"/>
                    <a:pt x="6822059" y="6103112"/>
                    <a:pt x="6687439" y="6103112"/>
                  </a:cubicBezTo>
                  <a:lnTo>
                    <a:pt x="243840" y="6103112"/>
                  </a:lnTo>
                  <a:cubicBezTo>
                    <a:pt x="109220" y="6103112"/>
                    <a:pt x="0" y="5993892"/>
                    <a:pt x="0" y="5859272"/>
                  </a:cubicBezTo>
                  <a:close/>
                </a:path>
              </a:pathLst>
            </a:custGeom>
            <a:solidFill>
              <a:srgbClr val="F3F3FF">
                <a:alpha val="56078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544713" y="3780234"/>
            <a:ext cx="5198421" cy="152400"/>
            <a:chOff x="0" y="0"/>
            <a:chExt cx="6931228" cy="203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931279" cy="203200"/>
            </a:xfrm>
            <a:custGeom>
              <a:avLst/>
              <a:gdLst/>
              <a:ahLst/>
              <a:cxnLst/>
              <a:rect l="l" t="t" r="r" b="b"/>
              <a:pathLst>
                <a:path w="6931279" h="203200">
                  <a:moveTo>
                    <a:pt x="0" y="101600"/>
                  </a:moveTo>
                  <a:cubicBezTo>
                    <a:pt x="0" y="45466"/>
                    <a:pt x="45466" y="0"/>
                    <a:pt x="101600" y="0"/>
                  </a:cubicBezTo>
                  <a:lnTo>
                    <a:pt x="6829679" y="0"/>
                  </a:lnTo>
                  <a:cubicBezTo>
                    <a:pt x="6885813" y="0"/>
                    <a:pt x="6931279" y="45466"/>
                    <a:pt x="6931279" y="101600"/>
                  </a:cubicBezTo>
                  <a:cubicBezTo>
                    <a:pt x="6931279" y="157734"/>
                    <a:pt x="6885813" y="203200"/>
                    <a:pt x="6829679" y="203200"/>
                  </a:cubicBezTo>
                  <a:lnTo>
                    <a:pt x="101600" y="203200"/>
                  </a:lnTo>
                  <a:cubicBezTo>
                    <a:pt x="45466" y="203200"/>
                    <a:pt x="0" y="157734"/>
                    <a:pt x="0" y="101600"/>
                  </a:cubicBezTo>
                  <a:close/>
                </a:path>
              </a:pathLst>
            </a:custGeom>
            <a:solidFill>
              <a:srgbClr val="018CE1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8695058" y="3369621"/>
            <a:ext cx="897579" cy="897579"/>
            <a:chOff x="0" y="0"/>
            <a:chExt cx="1196772" cy="119677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196721" cy="1196721"/>
            </a:xfrm>
            <a:custGeom>
              <a:avLst/>
              <a:gdLst/>
              <a:ahLst/>
              <a:cxnLst/>
              <a:rect l="l" t="t" r="r" b="b"/>
              <a:pathLst>
                <a:path w="1196721" h="1196721">
                  <a:moveTo>
                    <a:pt x="0" y="598424"/>
                  </a:moveTo>
                  <a:cubicBezTo>
                    <a:pt x="0" y="267970"/>
                    <a:pt x="267970" y="0"/>
                    <a:pt x="598424" y="0"/>
                  </a:cubicBezTo>
                  <a:cubicBezTo>
                    <a:pt x="928878" y="0"/>
                    <a:pt x="1196721" y="267970"/>
                    <a:pt x="1196721" y="598424"/>
                  </a:cubicBezTo>
                  <a:cubicBezTo>
                    <a:pt x="1196721" y="928878"/>
                    <a:pt x="928878" y="1196721"/>
                    <a:pt x="598424" y="1196721"/>
                  </a:cubicBezTo>
                  <a:cubicBezTo>
                    <a:pt x="267970" y="1196721"/>
                    <a:pt x="0" y="928878"/>
                    <a:pt x="0" y="598424"/>
                  </a:cubicBezTo>
                  <a:close/>
                </a:path>
              </a:pathLst>
            </a:custGeom>
            <a:solidFill>
              <a:srgbClr val="2D4DF2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8964292" y="3489274"/>
            <a:ext cx="358978" cy="5534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99"/>
              </a:lnSpc>
            </a:pPr>
            <a:r>
              <a:rPr lang="en-US" sz="2812" b="1">
                <a:solidFill>
                  <a:srgbClr val="FFFFFF"/>
                </a:solidFill>
                <a:latin typeface="Nunito Bold"/>
                <a:ea typeface="Nunito Bold"/>
                <a:cs typeface="Nunito Bold"/>
                <a:sym typeface="Nunito Bold"/>
              </a:rPr>
              <a:t>2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881965" y="4547292"/>
            <a:ext cx="3520230" cy="458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00002E"/>
                </a:solidFill>
                <a:latin typeface="Nunito Bold"/>
                <a:ea typeface="Nunito Bold"/>
                <a:cs typeface="Nunito Bold"/>
                <a:sym typeface="Nunito Bold"/>
              </a:rPr>
              <a:t>Offline Resilience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881965" y="5090522"/>
            <a:ext cx="4523927" cy="29679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50"/>
              </a:lnSpc>
            </a:pPr>
            <a:r>
              <a:rPr lang="en-US" sz="2312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Internet infrastructure is often the first casualty during natural disasters, making offline functionality a paramount requirement for any effective early warning system.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12042277" y="3818334"/>
            <a:ext cx="5198564" cy="4577353"/>
            <a:chOff x="0" y="0"/>
            <a:chExt cx="6931419" cy="6103137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6931406" cy="6103112"/>
            </a:xfrm>
            <a:custGeom>
              <a:avLst/>
              <a:gdLst/>
              <a:ahLst/>
              <a:cxnLst/>
              <a:rect l="l" t="t" r="r" b="b"/>
              <a:pathLst>
                <a:path w="6931406" h="6103112">
                  <a:moveTo>
                    <a:pt x="0" y="243840"/>
                  </a:moveTo>
                  <a:cubicBezTo>
                    <a:pt x="0" y="109220"/>
                    <a:pt x="109220" y="0"/>
                    <a:pt x="243840" y="0"/>
                  </a:cubicBezTo>
                  <a:lnTo>
                    <a:pt x="6687566" y="0"/>
                  </a:lnTo>
                  <a:cubicBezTo>
                    <a:pt x="6822186" y="0"/>
                    <a:pt x="6931406" y="109220"/>
                    <a:pt x="6931406" y="243840"/>
                  </a:cubicBezTo>
                  <a:lnTo>
                    <a:pt x="6931406" y="5859272"/>
                  </a:lnTo>
                  <a:cubicBezTo>
                    <a:pt x="6931406" y="5993892"/>
                    <a:pt x="6822186" y="6103112"/>
                    <a:pt x="6687566" y="6103112"/>
                  </a:cubicBezTo>
                  <a:lnTo>
                    <a:pt x="243840" y="6103112"/>
                  </a:lnTo>
                  <a:cubicBezTo>
                    <a:pt x="109220" y="6103112"/>
                    <a:pt x="0" y="5993892"/>
                    <a:pt x="0" y="5859272"/>
                  </a:cubicBezTo>
                  <a:close/>
                </a:path>
              </a:pathLst>
            </a:custGeom>
            <a:solidFill>
              <a:srgbClr val="F3F3FF">
                <a:alpha val="56078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2042277" y="3780234"/>
            <a:ext cx="5198564" cy="152400"/>
            <a:chOff x="0" y="0"/>
            <a:chExt cx="6931419" cy="2032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6931406" cy="203200"/>
            </a:xfrm>
            <a:custGeom>
              <a:avLst/>
              <a:gdLst/>
              <a:ahLst/>
              <a:cxnLst/>
              <a:rect l="l" t="t" r="r" b="b"/>
              <a:pathLst>
                <a:path w="6931406" h="203200">
                  <a:moveTo>
                    <a:pt x="0" y="101600"/>
                  </a:moveTo>
                  <a:cubicBezTo>
                    <a:pt x="0" y="45466"/>
                    <a:pt x="45466" y="0"/>
                    <a:pt x="101600" y="0"/>
                  </a:cubicBezTo>
                  <a:lnTo>
                    <a:pt x="6829806" y="0"/>
                  </a:lnTo>
                  <a:cubicBezTo>
                    <a:pt x="6885940" y="0"/>
                    <a:pt x="6931406" y="45466"/>
                    <a:pt x="6931406" y="101600"/>
                  </a:cubicBezTo>
                  <a:cubicBezTo>
                    <a:pt x="6931406" y="157734"/>
                    <a:pt x="6885940" y="203200"/>
                    <a:pt x="6829806" y="203200"/>
                  </a:cubicBezTo>
                  <a:lnTo>
                    <a:pt x="101600" y="203200"/>
                  </a:lnTo>
                  <a:cubicBezTo>
                    <a:pt x="45466" y="203200"/>
                    <a:pt x="0" y="157734"/>
                    <a:pt x="0" y="101600"/>
                  </a:cubicBezTo>
                  <a:close/>
                </a:path>
              </a:pathLst>
            </a:custGeom>
            <a:solidFill>
              <a:srgbClr val="DA33BF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4192774" y="3369621"/>
            <a:ext cx="897579" cy="897579"/>
            <a:chOff x="0" y="0"/>
            <a:chExt cx="1196772" cy="119677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196721" cy="1196721"/>
            </a:xfrm>
            <a:custGeom>
              <a:avLst/>
              <a:gdLst/>
              <a:ahLst/>
              <a:cxnLst/>
              <a:rect l="l" t="t" r="r" b="b"/>
              <a:pathLst>
                <a:path w="1196721" h="1196721">
                  <a:moveTo>
                    <a:pt x="0" y="598424"/>
                  </a:moveTo>
                  <a:cubicBezTo>
                    <a:pt x="0" y="267970"/>
                    <a:pt x="267970" y="0"/>
                    <a:pt x="598424" y="0"/>
                  </a:cubicBezTo>
                  <a:cubicBezTo>
                    <a:pt x="928878" y="0"/>
                    <a:pt x="1196721" y="267970"/>
                    <a:pt x="1196721" y="598424"/>
                  </a:cubicBezTo>
                  <a:cubicBezTo>
                    <a:pt x="1196721" y="928878"/>
                    <a:pt x="928878" y="1196721"/>
                    <a:pt x="598424" y="1196721"/>
                  </a:cubicBezTo>
                  <a:cubicBezTo>
                    <a:pt x="267970" y="1196721"/>
                    <a:pt x="0" y="928878"/>
                    <a:pt x="0" y="598424"/>
                  </a:cubicBezTo>
                  <a:close/>
                </a:path>
              </a:pathLst>
            </a:custGeom>
            <a:solidFill>
              <a:srgbClr val="2D4DF2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14461998" y="3489274"/>
            <a:ext cx="358978" cy="5534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99"/>
              </a:lnSpc>
            </a:pPr>
            <a:r>
              <a:rPr lang="en-US" sz="2812" b="1">
                <a:solidFill>
                  <a:srgbClr val="FFFFFF"/>
                </a:solidFill>
                <a:latin typeface="Nunito Bold"/>
                <a:ea typeface="Nunito Bold"/>
                <a:cs typeface="Nunito Bold"/>
                <a:sym typeface="Nunito Bold"/>
              </a:rPr>
              <a:t>3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2379528" y="4547292"/>
            <a:ext cx="3520230" cy="458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00002E"/>
                </a:solidFill>
                <a:latin typeface="Nunito Bold"/>
                <a:ea typeface="Nunito Bold"/>
                <a:cs typeface="Nunito Bold"/>
                <a:sym typeface="Nunito Bold"/>
              </a:rPr>
              <a:t>Sensor Failure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2379528" y="5090522"/>
            <a:ext cx="4524080" cy="24891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50"/>
              </a:lnSpc>
            </a:pPr>
            <a:r>
              <a:rPr lang="en-US" sz="2312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Approximately 40% of deployed sensors can fail during heavy storms, posing a significant challenge to data integrity and system reliability.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 descr="preencoded.png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3F3FF">
                <a:alpha val="56078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7905159" y="1078411"/>
            <a:ext cx="9335691" cy="17886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875"/>
              </a:lnSpc>
            </a:pPr>
            <a:r>
              <a:rPr lang="en-US" sz="5500" b="1">
                <a:solidFill>
                  <a:srgbClr val="00002E"/>
                </a:solidFill>
                <a:latin typeface="Nunito Bold"/>
                <a:ea typeface="Nunito Bold"/>
                <a:cs typeface="Nunito Bold"/>
                <a:sym typeface="Nunito Bold"/>
              </a:rPr>
              <a:t>Our Solution: Sentinel-LEWS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05159" y="3220488"/>
            <a:ext cx="9335691" cy="1052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50"/>
              </a:lnSpc>
            </a:pPr>
            <a:r>
              <a:rPr lang="en-US" sz="2312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Sentinel-LEWS is a groundbreaking </a:t>
            </a:r>
            <a:r>
              <a:rPr lang="en-US" sz="2312" b="1">
                <a:solidFill>
                  <a:srgbClr val="00002E"/>
                </a:solidFill>
                <a:latin typeface="PT Sans Bold"/>
                <a:ea typeface="PT Sans Bold"/>
                <a:cs typeface="PT Sans Bold"/>
                <a:sym typeface="PT Sans Bold"/>
              </a:rPr>
              <a:t>terrain-anchored, edge-native ML system</a:t>
            </a:r>
            <a:r>
              <a:rPr lang="en-US" sz="2312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 designed to overcome current limitations. It: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905159" y="4514555"/>
            <a:ext cx="9335691" cy="1052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8754" lvl="1" indent="-174377" algn="l">
              <a:lnSpc>
                <a:spcPts val="3750"/>
              </a:lnSpc>
              <a:buFont typeface="Arial"/>
              <a:buChar char="•"/>
            </a:pPr>
            <a:r>
              <a:rPr lang="en-US" sz="2312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Utilizes </a:t>
            </a:r>
            <a:r>
              <a:rPr lang="en-US" sz="2312" b="1">
                <a:solidFill>
                  <a:srgbClr val="00002E"/>
                </a:solidFill>
                <a:latin typeface="PT Sans Bold"/>
                <a:ea typeface="PT Sans Bold"/>
                <a:cs typeface="PT Sans Bold"/>
                <a:sym typeface="PT Sans Bold"/>
              </a:rPr>
              <a:t>terrain as the fundamental spatial backbone</a:t>
            </a:r>
            <a:r>
              <a:rPr lang="en-US" sz="2312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 for all predictions.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905159" y="5576735"/>
            <a:ext cx="9335691" cy="1052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8754" lvl="1" indent="-174377" algn="l">
              <a:lnSpc>
                <a:spcPts val="3750"/>
              </a:lnSpc>
              <a:buFont typeface="Arial"/>
              <a:buChar char="•"/>
            </a:pPr>
            <a:r>
              <a:rPr lang="en-US" sz="2312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Intelligently converts low-resolution rainfall data into precise </a:t>
            </a:r>
            <a:r>
              <a:rPr lang="en-US" sz="2312" b="1">
                <a:solidFill>
                  <a:srgbClr val="00002E"/>
                </a:solidFill>
                <a:latin typeface="PT Sans Bold"/>
                <a:ea typeface="PT Sans Bold"/>
                <a:cs typeface="PT Sans Bold"/>
                <a:sym typeface="PT Sans Bold"/>
              </a:rPr>
              <a:t>soil saturation</a:t>
            </a:r>
            <a:r>
              <a:rPr lang="en-US" sz="2312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 estimates.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905159" y="6638925"/>
            <a:ext cx="9335691" cy="1052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8754" lvl="1" indent="-174377" algn="l">
              <a:lnSpc>
                <a:spcPts val="3750"/>
              </a:lnSpc>
              <a:buFont typeface="Arial"/>
              <a:buChar char="•"/>
            </a:pPr>
            <a:r>
              <a:rPr lang="en-US" sz="2312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Operates entirely on </a:t>
            </a:r>
            <a:r>
              <a:rPr lang="en-US" sz="2312" b="1">
                <a:solidFill>
                  <a:srgbClr val="00002E"/>
                </a:solidFill>
                <a:latin typeface="PT Sans Bold"/>
                <a:ea typeface="PT Sans Bold"/>
                <a:cs typeface="PT Sans Bold"/>
                <a:sym typeface="PT Sans Bold"/>
              </a:rPr>
              <a:t>local district hardware</a:t>
            </a:r>
            <a:r>
              <a:rPr lang="en-US" sz="2312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, ensuring continuous functionality.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353873" y="8269491"/>
            <a:ext cx="8886977" cy="5740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50"/>
              </a:lnSpc>
            </a:pPr>
            <a:r>
              <a:rPr lang="en-US" sz="2312" b="1">
                <a:solidFill>
                  <a:srgbClr val="00002E"/>
                </a:solidFill>
                <a:latin typeface="PT Sans Bold"/>
                <a:ea typeface="PT Sans Bold"/>
                <a:cs typeface="PT Sans Bold"/>
                <a:sym typeface="PT Sans Bold"/>
              </a:rPr>
              <a:t>Key Insight:</a:t>
            </a:r>
            <a:r>
              <a:rPr lang="en-US" sz="2312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 Terrain defines resolution — sensors refine confidence.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7905159" y="8028232"/>
            <a:ext cx="38100" cy="1151782"/>
            <a:chOff x="0" y="0"/>
            <a:chExt cx="50800" cy="1535709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50800" cy="1535684"/>
            </a:xfrm>
            <a:custGeom>
              <a:avLst/>
              <a:gdLst/>
              <a:ahLst/>
              <a:cxnLst/>
              <a:rect l="l" t="t" r="r" b="b"/>
              <a:pathLst>
                <a:path w="50800" h="1535684">
                  <a:moveTo>
                    <a:pt x="0" y="0"/>
                  </a:moveTo>
                  <a:lnTo>
                    <a:pt x="50800" y="0"/>
                  </a:lnTo>
                  <a:lnTo>
                    <a:pt x="50800" y="1535684"/>
                  </a:lnTo>
                  <a:lnTo>
                    <a:pt x="0" y="1535684"/>
                  </a:lnTo>
                  <a:close/>
                </a:path>
              </a:pathLst>
            </a:custGeom>
            <a:solidFill>
              <a:srgbClr val="2D4DF2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9D267D81-F3B1-1D98-3C06-8A64090D18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00" y="291159"/>
            <a:ext cx="7736500" cy="47498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A03EC1C-249E-1A83-8FF2-6E1261D763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400" y="5244629"/>
            <a:ext cx="5041900" cy="48387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 descr="preencoded.png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3F3FF">
                <a:alpha val="56078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2157260" y="626421"/>
            <a:ext cx="8561784" cy="14234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374"/>
              </a:lnSpc>
            </a:pPr>
            <a:r>
              <a:rPr lang="en-US" sz="5500" b="1" dirty="0">
                <a:solidFill>
                  <a:srgbClr val="00002E"/>
                </a:solidFill>
                <a:latin typeface="Nunito Bold"/>
                <a:ea typeface="Nunito Bold"/>
                <a:cs typeface="Nunito Bold"/>
                <a:sym typeface="Nunito Bold"/>
              </a:rPr>
              <a:t>Achieving Hyper-Local Resolution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167042" y="1832219"/>
            <a:ext cx="5973070" cy="726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</a:pPr>
            <a:r>
              <a:rPr lang="en-US" sz="2310" dirty="0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Our system achieves unprecedented hyper-local resolution by leveraging: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167042" y="3038017"/>
            <a:ext cx="5973070" cy="726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73348" lvl="1" indent="-136674" algn="l">
              <a:lnSpc>
                <a:spcPts val="2937"/>
              </a:lnSpc>
              <a:buFont typeface="Arial"/>
              <a:buChar char="•"/>
            </a:pPr>
            <a:r>
              <a:rPr lang="en-US" sz="2310" b="1" dirty="0">
                <a:solidFill>
                  <a:srgbClr val="00002E"/>
                </a:solidFill>
                <a:latin typeface="PT Sans Bold"/>
                <a:ea typeface="PT Sans Bold"/>
                <a:cs typeface="PT Sans Bold"/>
                <a:sym typeface="PT Sans Bold"/>
              </a:rPr>
              <a:t>Base Layer:</a:t>
            </a:r>
            <a:r>
              <a:rPr lang="en-US" sz="2310" dirty="0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 A high-resolution 30 m Digital Elevation Model (DEM).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167042" y="4416891"/>
            <a:ext cx="5973070" cy="726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73348" lvl="1" indent="-136674" algn="l">
              <a:lnSpc>
                <a:spcPts val="2937"/>
              </a:lnSpc>
              <a:buFont typeface="Arial"/>
              <a:buChar char="•"/>
            </a:pPr>
            <a:r>
              <a:rPr lang="en-US" sz="2310" b="1" dirty="0">
                <a:solidFill>
                  <a:srgbClr val="00002E"/>
                </a:solidFill>
                <a:latin typeface="PT Sans Bold"/>
                <a:ea typeface="PT Sans Bold"/>
                <a:cs typeface="PT Sans Bold"/>
                <a:sym typeface="PT Sans Bold"/>
              </a:rPr>
              <a:t>Terrain Cells:</a:t>
            </a:r>
            <a:r>
              <a:rPr lang="en-US" sz="2310" dirty="0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 Each DEM pixel is treated as a fundamental terrain cell.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167042" y="5966104"/>
            <a:ext cx="5973070" cy="1088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73348" lvl="1" indent="-136674" algn="l">
              <a:lnSpc>
                <a:spcPts val="2937"/>
              </a:lnSpc>
              <a:buFont typeface="Arial"/>
              <a:buChar char="•"/>
            </a:pPr>
            <a:r>
              <a:rPr lang="en-US" sz="2310" b="1" dirty="0">
                <a:solidFill>
                  <a:srgbClr val="00002E"/>
                </a:solidFill>
                <a:latin typeface="PT Sans Bold"/>
                <a:ea typeface="PT Sans Bold"/>
                <a:cs typeface="PT Sans Bold"/>
                <a:sym typeface="PT Sans Bold"/>
              </a:rPr>
              <a:t>Operational Zones:</a:t>
            </a:r>
            <a:r>
              <a:rPr lang="en-US" sz="2310" dirty="0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 These cells are then aggregated into precise 100 m² operational zones for risk assessment.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931CAC7-CEF8-E183-5AC5-5500AAA2AB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2571750"/>
            <a:ext cx="90678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 descr="preencoded.png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18288000" cy="10287000"/>
            <a:chOff x="0" y="-529564"/>
            <a:chExt cx="24384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-529564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3F3FF">
                <a:alpha val="56078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838201" y="392316"/>
            <a:ext cx="8276482" cy="5116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4800" b="1" dirty="0">
                <a:solidFill>
                  <a:srgbClr val="00002E"/>
                </a:solidFill>
                <a:latin typeface="Nunito Bold"/>
                <a:ea typeface="Nunito Bold"/>
                <a:cs typeface="Nunito Bold"/>
                <a:sym typeface="Nunito Bold"/>
              </a:rPr>
              <a:t>Data &amp; Feature Engineering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90600" y="1083951"/>
            <a:ext cx="2112169" cy="3250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62"/>
              </a:lnSpc>
            </a:pPr>
            <a:r>
              <a:rPr lang="en-US" sz="3200" b="1" dirty="0">
                <a:solidFill>
                  <a:srgbClr val="00002E"/>
                </a:solidFill>
                <a:latin typeface="Nunito Bold"/>
                <a:ea typeface="Nunito Bold"/>
                <a:cs typeface="Nunito Bold"/>
                <a:sym typeface="Nunito Bold"/>
              </a:rPr>
              <a:t>Input Data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38201" y="1667015"/>
            <a:ext cx="7162799" cy="5183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169664" lvl="1" indent="-84832" algn="l">
              <a:lnSpc>
                <a:spcPts val="1874"/>
              </a:lnSpc>
              <a:buFont typeface="Arial"/>
              <a:buChar char="•"/>
            </a:pPr>
            <a:r>
              <a:rPr lang="en-US" sz="2310" dirty="0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Digital Elevation Model (DEM): Slope angles and drainage </a:t>
            </a:r>
            <a:r>
              <a:rPr lang="en-US" sz="2400" dirty="0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patterns.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31504" y="2439353"/>
            <a:ext cx="6788496" cy="2585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169664" lvl="1" indent="-84832" algn="l">
              <a:lnSpc>
                <a:spcPts val="1874"/>
              </a:lnSpc>
              <a:buFont typeface="Arial"/>
              <a:buChar char="•"/>
            </a:pPr>
            <a:r>
              <a:rPr lang="en-US" sz="2310" dirty="0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Historical Rainfall: Detailed CSV records for context.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21056" y="4486990"/>
            <a:ext cx="6377758" cy="2615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169664" lvl="1" indent="-84832" algn="l">
              <a:lnSpc>
                <a:spcPts val="1874"/>
              </a:lnSpc>
              <a:buFont typeface="Arial"/>
              <a:buChar char="•"/>
            </a:pPr>
            <a:r>
              <a:rPr lang="en-US" sz="2310" dirty="0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Vegetation Cover: Assessing density and type.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31503" y="3148434"/>
            <a:ext cx="6583710" cy="5052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169664" lvl="1" indent="-84832" algn="l">
              <a:lnSpc>
                <a:spcPts val="1874"/>
              </a:lnSpc>
              <a:buFont typeface="Arial"/>
              <a:buChar char="•"/>
            </a:pPr>
            <a:r>
              <a:rPr lang="en-US" sz="2310" dirty="0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Proximity to Water Bodies: Identifying potential saturation zones.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31502" y="3834661"/>
            <a:ext cx="6408393" cy="5052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169664" lvl="1" indent="-84832" algn="l">
              <a:lnSpc>
                <a:spcPts val="1874"/>
              </a:lnSpc>
              <a:buFont typeface="Arial"/>
              <a:buChar char="•"/>
            </a:pPr>
            <a:r>
              <a:rPr lang="en-US" sz="2310" dirty="0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Vibration / Earthquake Signals: Real-time seismic data</a:t>
            </a:r>
            <a:r>
              <a:rPr lang="en-US" sz="2400" dirty="0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38201" y="4955983"/>
            <a:ext cx="6172199" cy="5052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169664" lvl="1" indent="-84832" algn="l">
              <a:lnSpc>
                <a:spcPts val="1874"/>
              </a:lnSpc>
              <a:buFont typeface="Arial"/>
              <a:buChar char="•"/>
            </a:pPr>
            <a:r>
              <a:rPr lang="en-US" sz="2310" dirty="0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Soil Characteristics: Analyzing composition and permeability</a:t>
            </a:r>
            <a:r>
              <a:rPr lang="en-US" sz="2400" dirty="0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.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2122280" y="5836673"/>
            <a:ext cx="617033" cy="917807"/>
            <a:chOff x="-18419" y="-20545"/>
            <a:chExt cx="822710" cy="1223743"/>
          </a:xfrm>
        </p:grpSpPr>
        <p:sp>
          <p:nvSpPr>
            <p:cNvPr id="15" name="Freeform 15"/>
            <p:cNvSpPr/>
            <p:nvPr/>
          </p:nvSpPr>
          <p:spPr>
            <a:xfrm>
              <a:off x="6350" y="6350"/>
              <a:ext cx="797941" cy="1196848"/>
            </a:xfrm>
            <a:custGeom>
              <a:avLst/>
              <a:gdLst/>
              <a:ahLst/>
              <a:cxnLst/>
              <a:rect l="l" t="t" r="r" b="b"/>
              <a:pathLst>
                <a:path w="797941" h="1196848">
                  <a:moveTo>
                    <a:pt x="0" y="401066"/>
                  </a:moveTo>
                  <a:cubicBezTo>
                    <a:pt x="0" y="179578"/>
                    <a:pt x="178562" y="0"/>
                    <a:pt x="398907" y="0"/>
                  </a:cubicBezTo>
                  <a:cubicBezTo>
                    <a:pt x="619252" y="0"/>
                    <a:pt x="797941" y="179578"/>
                    <a:pt x="797941" y="401066"/>
                  </a:cubicBezTo>
                  <a:lnTo>
                    <a:pt x="797941" y="795782"/>
                  </a:lnTo>
                  <a:cubicBezTo>
                    <a:pt x="797941" y="1017270"/>
                    <a:pt x="619379" y="1196848"/>
                    <a:pt x="399034" y="1196848"/>
                  </a:cubicBezTo>
                  <a:cubicBezTo>
                    <a:pt x="178689" y="1196848"/>
                    <a:pt x="0" y="1017270"/>
                    <a:pt x="0" y="795782"/>
                  </a:cubicBezTo>
                  <a:close/>
                </a:path>
              </a:pathLst>
            </a:custGeom>
            <a:solidFill>
              <a:srgbClr val="F3F3FF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-18419" y="-20545"/>
              <a:ext cx="810641" cy="1209548"/>
            </a:xfrm>
            <a:custGeom>
              <a:avLst/>
              <a:gdLst/>
              <a:ahLst/>
              <a:cxnLst/>
              <a:rect l="l" t="t" r="r" b="b"/>
              <a:pathLst>
                <a:path w="810641" h="1209548">
                  <a:moveTo>
                    <a:pt x="0" y="407416"/>
                  </a:moveTo>
                  <a:cubicBezTo>
                    <a:pt x="0" y="182372"/>
                    <a:pt x="181483" y="0"/>
                    <a:pt x="405257" y="0"/>
                  </a:cubicBezTo>
                  <a:cubicBezTo>
                    <a:pt x="407162" y="0"/>
                    <a:pt x="409067" y="889"/>
                    <a:pt x="410210" y="2413"/>
                  </a:cubicBezTo>
                  <a:lnTo>
                    <a:pt x="405257" y="6350"/>
                  </a:lnTo>
                  <a:lnTo>
                    <a:pt x="405257" y="0"/>
                  </a:lnTo>
                  <a:lnTo>
                    <a:pt x="405257" y="6350"/>
                  </a:lnTo>
                  <a:lnTo>
                    <a:pt x="405257" y="0"/>
                  </a:lnTo>
                  <a:cubicBezTo>
                    <a:pt x="629158" y="0"/>
                    <a:pt x="810641" y="182372"/>
                    <a:pt x="810641" y="407416"/>
                  </a:cubicBezTo>
                  <a:lnTo>
                    <a:pt x="810641" y="802132"/>
                  </a:lnTo>
                  <a:lnTo>
                    <a:pt x="804291" y="802132"/>
                  </a:lnTo>
                  <a:lnTo>
                    <a:pt x="810641" y="802132"/>
                  </a:lnTo>
                  <a:cubicBezTo>
                    <a:pt x="810641" y="1027049"/>
                    <a:pt x="629158" y="1209548"/>
                    <a:pt x="405384" y="1209548"/>
                  </a:cubicBezTo>
                  <a:lnTo>
                    <a:pt x="405384" y="1203198"/>
                  </a:lnTo>
                  <a:lnTo>
                    <a:pt x="405384" y="1209548"/>
                  </a:lnTo>
                  <a:cubicBezTo>
                    <a:pt x="181483" y="1209421"/>
                    <a:pt x="0" y="1027049"/>
                    <a:pt x="0" y="802132"/>
                  </a:cubicBezTo>
                  <a:lnTo>
                    <a:pt x="0" y="407416"/>
                  </a:lnTo>
                  <a:lnTo>
                    <a:pt x="6350" y="407416"/>
                  </a:lnTo>
                  <a:lnTo>
                    <a:pt x="0" y="407416"/>
                  </a:lnTo>
                  <a:moveTo>
                    <a:pt x="12700" y="407416"/>
                  </a:moveTo>
                  <a:lnTo>
                    <a:pt x="12700" y="802132"/>
                  </a:lnTo>
                  <a:lnTo>
                    <a:pt x="6350" y="802132"/>
                  </a:lnTo>
                  <a:lnTo>
                    <a:pt x="12700" y="802132"/>
                  </a:lnTo>
                  <a:cubicBezTo>
                    <a:pt x="12700" y="1020064"/>
                    <a:pt x="188468" y="1196721"/>
                    <a:pt x="405257" y="1196721"/>
                  </a:cubicBezTo>
                  <a:cubicBezTo>
                    <a:pt x="622046" y="1196721"/>
                    <a:pt x="797941" y="1020064"/>
                    <a:pt x="797941" y="802132"/>
                  </a:cubicBezTo>
                  <a:lnTo>
                    <a:pt x="797941" y="407416"/>
                  </a:lnTo>
                  <a:lnTo>
                    <a:pt x="804291" y="407416"/>
                  </a:lnTo>
                  <a:lnTo>
                    <a:pt x="797941" y="407416"/>
                  </a:lnTo>
                  <a:cubicBezTo>
                    <a:pt x="797941" y="189357"/>
                    <a:pt x="622046" y="12700"/>
                    <a:pt x="405257" y="12700"/>
                  </a:cubicBezTo>
                  <a:cubicBezTo>
                    <a:pt x="403352" y="12700"/>
                    <a:pt x="401447" y="11811"/>
                    <a:pt x="400304" y="10287"/>
                  </a:cubicBezTo>
                  <a:lnTo>
                    <a:pt x="405257" y="6350"/>
                  </a:lnTo>
                  <a:lnTo>
                    <a:pt x="405257" y="12700"/>
                  </a:lnTo>
                  <a:cubicBezTo>
                    <a:pt x="188468" y="12700"/>
                    <a:pt x="12700" y="189357"/>
                    <a:pt x="12700" y="407416"/>
                  </a:cubicBezTo>
                  <a:close/>
                </a:path>
              </a:pathLst>
            </a:custGeom>
            <a:solidFill>
              <a:srgbClr val="2D4DF2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2238531" y="6168273"/>
            <a:ext cx="224285" cy="242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50"/>
              </a:lnSpc>
            </a:pPr>
            <a:r>
              <a:rPr lang="en-US" sz="1750" b="1" dirty="0">
                <a:solidFill>
                  <a:srgbClr val="00002E"/>
                </a:solidFill>
                <a:latin typeface="Nunito Bold"/>
                <a:ea typeface="Nunito Bold"/>
                <a:cs typeface="Nunito Bold"/>
                <a:sym typeface="Nunito Bold"/>
              </a:rPr>
              <a:t>1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000004" y="5988255"/>
            <a:ext cx="1847564" cy="4584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lang="en-US" sz="2000" dirty="0">
                <a:solidFill>
                  <a:srgbClr val="00002E"/>
                </a:solidFill>
                <a:latin typeface="Nunito Bold"/>
                <a:ea typeface="Nunito Bold"/>
                <a:cs typeface="Nunito Bold"/>
                <a:sym typeface="Nunito Bold"/>
              </a:rPr>
              <a:t>Soil Saturation (Derived)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2111426" y="7129824"/>
            <a:ext cx="607962" cy="907104"/>
            <a:chOff x="0" y="0"/>
            <a:chExt cx="810616" cy="1209472"/>
          </a:xfrm>
        </p:grpSpPr>
        <p:sp>
          <p:nvSpPr>
            <p:cNvPr id="20" name="Freeform 20"/>
            <p:cNvSpPr/>
            <p:nvPr/>
          </p:nvSpPr>
          <p:spPr>
            <a:xfrm>
              <a:off x="6350" y="6350"/>
              <a:ext cx="797941" cy="1196848"/>
            </a:xfrm>
            <a:custGeom>
              <a:avLst/>
              <a:gdLst/>
              <a:ahLst/>
              <a:cxnLst/>
              <a:rect l="l" t="t" r="r" b="b"/>
              <a:pathLst>
                <a:path w="797941" h="1196848">
                  <a:moveTo>
                    <a:pt x="0" y="401066"/>
                  </a:moveTo>
                  <a:cubicBezTo>
                    <a:pt x="0" y="179578"/>
                    <a:pt x="178562" y="0"/>
                    <a:pt x="398907" y="0"/>
                  </a:cubicBezTo>
                  <a:cubicBezTo>
                    <a:pt x="619252" y="0"/>
                    <a:pt x="797941" y="179578"/>
                    <a:pt x="797941" y="401066"/>
                  </a:cubicBezTo>
                  <a:lnTo>
                    <a:pt x="797941" y="795782"/>
                  </a:lnTo>
                  <a:cubicBezTo>
                    <a:pt x="797941" y="1017270"/>
                    <a:pt x="619379" y="1196848"/>
                    <a:pt x="399034" y="1196848"/>
                  </a:cubicBezTo>
                  <a:cubicBezTo>
                    <a:pt x="178689" y="1196848"/>
                    <a:pt x="0" y="1017270"/>
                    <a:pt x="0" y="795782"/>
                  </a:cubicBezTo>
                  <a:close/>
                </a:path>
              </a:pathLst>
            </a:custGeom>
            <a:solidFill>
              <a:srgbClr val="F3F3FF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21"/>
            <p:cNvSpPr/>
            <p:nvPr/>
          </p:nvSpPr>
          <p:spPr>
            <a:xfrm>
              <a:off x="0" y="0"/>
              <a:ext cx="810641" cy="1209548"/>
            </a:xfrm>
            <a:custGeom>
              <a:avLst/>
              <a:gdLst/>
              <a:ahLst/>
              <a:cxnLst/>
              <a:rect l="l" t="t" r="r" b="b"/>
              <a:pathLst>
                <a:path w="810641" h="1209548">
                  <a:moveTo>
                    <a:pt x="0" y="407416"/>
                  </a:moveTo>
                  <a:cubicBezTo>
                    <a:pt x="0" y="182372"/>
                    <a:pt x="181483" y="0"/>
                    <a:pt x="405257" y="0"/>
                  </a:cubicBezTo>
                  <a:cubicBezTo>
                    <a:pt x="407162" y="0"/>
                    <a:pt x="409067" y="889"/>
                    <a:pt x="410210" y="2413"/>
                  </a:cubicBezTo>
                  <a:lnTo>
                    <a:pt x="405257" y="6350"/>
                  </a:lnTo>
                  <a:lnTo>
                    <a:pt x="405257" y="0"/>
                  </a:lnTo>
                  <a:lnTo>
                    <a:pt x="405257" y="6350"/>
                  </a:lnTo>
                  <a:lnTo>
                    <a:pt x="405257" y="0"/>
                  </a:lnTo>
                  <a:cubicBezTo>
                    <a:pt x="629158" y="0"/>
                    <a:pt x="810641" y="182372"/>
                    <a:pt x="810641" y="407416"/>
                  </a:cubicBezTo>
                  <a:lnTo>
                    <a:pt x="810641" y="802132"/>
                  </a:lnTo>
                  <a:lnTo>
                    <a:pt x="804291" y="802132"/>
                  </a:lnTo>
                  <a:lnTo>
                    <a:pt x="810641" y="802132"/>
                  </a:lnTo>
                  <a:cubicBezTo>
                    <a:pt x="810641" y="1027049"/>
                    <a:pt x="629158" y="1209548"/>
                    <a:pt x="405384" y="1209548"/>
                  </a:cubicBezTo>
                  <a:lnTo>
                    <a:pt x="405384" y="1203198"/>
                  </a:lnTo>
                  <a:lnTo>
                    <a:pt x="405384" y="1209548"/>
                  </a:lnTo>
                  <a:cubicBezTo>
                    <a:pt x="181483" y="1209421"/>
                    <a:pt x="0" y="1027049"/>
                    <a:pt x="0" y="802132"/>
                  </a:cubicBezTo>
                  <a:lnTo>
                    <a:pt x="0" y="407416"/>
                  </a:lnTo>
                  <a:lnTo>
                    <a:pt x="6350" y="407416"/>
                  </a:lnTo>
                  <a:lnTo>
                    <a:pt x="0" y="407416"/>
                  </a:lnTo>
                  <a:moveTo>
                    <a:pt x="12700" y="407416"/>
                  </a:moveTo>
                  <a:lnTo>
                    <a:pt x="12700" y="802132"/>
                  </a:lnTo>
                  <a:lnTo>
                    <a:pt x="6350" y="802132"/>
                  </a:lnTo>
                  <a:lnTo>
                    <a:pt x="12700" y="802132"/>
                  </a:lnTo>
                  <a:cubicBezTo>
                    <a:pt x="12700" y="1020064"/>
                    <a:pt x="188468" y="1196721"/>
                    <a:pt x="405257" y="1196721"/>
                  </a:cubicBezTo>
                  <a:cubicBezTo>
                    <a:pt x="622046" y="1196721"/>
                    <a:pt x="797941" y="1020064"/>
                    <a:pt x="797941" y="802132"/>
                  </a:cubicBezTo>
                  <a:lnTo>
                    <a:pt x="797941" y="407416"/>
                  </a:lnTo>
                  <a:lnTo>
                    <a:pt x="804291" y="407416"/>
                  </a:lnTo>
                  <a:lnTo>
                    <a:pt x="797941" y="407416"/>
                  </a:lnTo>
                  <a:cubicBezTo>
                    <a:pt x="797941" y="189357"/>
                    <a:pt x="622046" y="12700"/>
                    <a:pt x="405257" y="12700"/>
                  </a:cubicBezTo>
                  <a:cubicBezTo>
                    <a:pt x="403352" y="12700"/>
                    <a:pt x="401447" y="11811"/>
                    <a:pt x="400304" y="10287"/>
                  </a:cubicBezTo>
                  <a:lnTo>
                    <a:pt x="405257" y="6350"/>
                  </a:lnTo>
                  <a:lnTo>
                    <a:pt x="405257" y="12700"/>
                  </a:lnTo>
                  <a:cubicBezTo>
                    <a:pt x="188468" y="12700"/>
                    <a:pt x="12700" y="189357"/>
                    <a:pt x="12700" y="407416"/>
                  </a:cubicBezTo>
                  <a:close/>
                </a:path>
              </a:pathLst>
            </a:custGeom>
            <a:solidFill>
              <a:srgbClr val="018CE1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2314129" y="7462255"/>
            <a:ext cx="224285" cy="242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50"/>
              </a:lnSpc>
            </a:pPr>
            <a:r>
              <a:rPr lang="en-US" sz="1750" b="1" dirty="0">
                <a:solidFill>
                  <a:srgbClr val="00002E"/>
                </a:solidFill>
                <a:latin typeface="Nunito Bold"/>
                <a:ea typeface="Nunito Bold"/>
                <a:cs typeface="Nunito Bold"/>
                <a:sym typeface="Nunito Bold"/>
              </a:rPr>
              <a:t>2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3094520" y="7354173"/>
            <a:ext cx="1830829" cy="4584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lang="en-US" sz="2000" b="1" dirty="0">
                <a:solidFill>
                  <a:srgbClr val="00002E"/>
                </a:solidFill>
                <a:latin typeface="Nunito Bold"/>
                <a:ea typeface="Nunito Bold"/>
                <a:cs typeface="Nunito Bold"/>
                <a:sym typeface="Nunito Bold"/>
              </a:rPr>
              <a:t>Rainfall (Trigger)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2162141" y="8254727"/>
            <a:ext cx="607962" cy="907104"/>
            <a:chOff x="0" y="0"/>
            <a:chExt cx="810616" cy="1209472"/>
          </a:xfrm>
        </p:grpSpPr>
        <p:sp>
          <p:nvSpPr>
            <p:cNvPr id="25" name="Freeform 25"/>
            <p:cNvSpPr/>
            <p:nvPr/>
          </p:nvSpPr>
          <p:spPr>
            <a:xfrm>
              <a:off x="6350" y="6350"/>
              <a:ext cx="797941" cy="1196848"/>
            </a:xfrm>
            <a:custGeom>
              <a:avLst/>
              <a:gdLst/>
              <a:ahLst/>
              <a:cxnLst/>
              <a:rect l="l" t="t" r="r" b="b"/>
              <a:pathLst>
                <a:path w="797941" h="1196848">
                  <a:moveTo>
                    <a:pt x="0" y="401066"/>
                  </a:moveTo>
                  <a:cubicBezTo>
                    <a:pt x="0" y="179578"/>
                    <a:pt x="178562" y="0"/>
                    <a:pt x="398907" y="0"/>
                  </a:cubicBezTo>
                  <a:cubicBezTo>
                    <a:pt x="619252" y="0"/>
                    <a:pt x="797941" y="179578"/>
                    <a:pt x="797941" y="401066"/>
                  </a:cubicBezTo>
                  <a:lnTo>
                    <a:pt x="797941" y="795782"/>
                  </a:lnTo>
                  <a:cubicBezTo>
                    <a:pt x="797941" y="1017270"/>
                    <a:pt x="619379" y="1196848"/>
                    <a:pt x="399034" y="1196848"/>
                  </a:cubicBezTo>
                  <a:cubicBezTo>
                    <a:pt x="178689" y="1196848"/>
                    <a:pt x="0" y="1017270"/>
                    <a:pt x="0" y="795782"/>
                  </a:cubicBezTo>
                  <a:close/>
                </a:path>
              </a:pathLst>
            </a:custGeom>
            <a:solidFill>
              <a:srgbClr val="F3F3FF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26"/>
            <p:cNvSpPr/>
            <p:nvPr/>
          </p:nvSpPr>
          <p:spPr>
            <a:xfrm>
              <a:off x="0" y="0"/>
              <a:ext cx="810641" cy="1209548"/>
            </a:xfrm>
            <a:custGeom>
              <a:avLst/>
              <a:gdLst/>
              <a:ahLst/>
              <a:cxnLst/>
              <a:rect l="l" t="t" r="r" b="b"/>
              <a:pathLst>
                <a:path w="810641" h="1209548">
                  <a:moveTo>
                    <a:pt x="0" y="407416"/>
                  </a:moveTo>
                  <a:cubicBezTo>
                    <a:pt x="0" y="182372"/>
                    <a:pt x="181483" y="0"/>
                    <a:pt x="405257" y="0"/>
                  </a:cubicBezTo>
                  <a:cubicBezTo>
                    <a:pt x="407162" y="0"/>
                    <a:pt x="409067" y="889"/>
                    <a:pt x="410210" y="2413"/>
                  </a:cubicBezTo>
                  <a:lnTo>
                    <a:pt x="405257" y="6350"/>
                  </a:lnTo>
                  <a:lnTo>
                    <a:pt x="405257" y="0"/>
                  </a:lnTo>
                  <a:lnTo>
                    <a:pt x="405257" y="6350"/>
                  </a:lnTo>
                  <a:lnTo>
                    <a:pt x="405257" y="0"/>
                  </a:lnTo>
                  <a:cubicBezTo>
                    <a:pt x="629158" y="0"/>
                    <a:pt x="810641" y="182372"/>
                    <a:pt x="810641" y="407416"/>
                  </a:cubicBezTo>
                  <a:lnTo>
                    <a:pt x="810641" y="802132"/>
                  </a:lnTo>
                  <a:lnTo>
                    <a:pt x="804291" y="802132"/>
                  </a:lnTo>
                  <a:lnTo>
                    <a:pt x="810641" y="802132"/>
                  </a:lnTo>
                  <a:cubicBezTo>
                    <a:pt x="810641" y="1027049"/>
                    <a:pt x="629158" y="1209548"/>
                    <a:pt x="405384" y="1209548"/>
                  </a:cubicBezTo>
                  <a:lnTo>
                    <a:pt x="405384" y="1203198"/>
                  </a:lnTo>
                  <a:lnTo>
                    <a:pt x="405384" y="1209548"/>
                  </a:lnTo>
                  <a:cubicBezTo>
                    <a:pt x="181483" y="1209421"/>
                    <a:pt x="0" y="1027049"/>
                    <a:pt x="0" y="802132"/>
                  </a:cubicBezTo>
                  <a:lnTo>
                    <a:pt x="0" y="407416"/>
                  </a:lnTo>
                  <a:lnTo>
                    <a:pt x="6350" y="407416"/>
                  </a:lnTo>
                  <a:lnTo>
                    <a:pt x="0" y="407416"/>
                  </a:lnTo>
                  <a:moveTo>
                    <a:pt x="12700" y="407416"/>
                  </a:moveTo>
                  <a:lnTo>
                    <a:pt x="12700" y="802132"/>
                  </a:lnTo>
                  <a:lnTo>
                    <a:pt x="6350" y="802132"/>
                  </a:lnTo>
                  <a:lnTo>
                    <a:pt x="12700" y="802132"/>
                  </a:lnTo>
                  <a:cubicBezTo>
                    <a:pt x="12700" y="1020064"/>
                    <a:pt x="188468" y="1196721"/>
                    <a:pt x="405257" y="1196721"/>
                  </a:cubicBezTo>
                  <a:cubicBezTo>
                    <a:pt x="622046" y="1196721"/>
                    <a:pt x="797941" y="1020064"/>
                    <a:pt x="797941" y="802132"/>
                  </a:cubicBezTo>
                  <a:lnTo>
                    <a:pt x="797941" y="407416"/>
                  </a:lnTo>
                  <a:lnTo>
                    <a:pt x="804291" y="407416"/>
                  </a:lnTo>
                  <a:lnTo>
                    <a:pt x="797941" y="407416"/>
                  </a:lnTo>
                  <a:cubicBezTo>
                    <a:pt x="797941" y="189357"/>
                    <a:pt x="622046" y="12700"/>
                    <a:pt x="405257" y="12700"/>
                  </a:cubicBezTo>
                  <a:cubicBezTo>
                    <a:pt x="403352" y="12700"/>
                    <a:pt x="401447" y="11811"/>
                    <a:pt x="400304" y="10287"/>
                  </a:cubicBezTo>
                  <a:lnTo>
                    <a:pt x="405257" y="6350"/>
                  </a:lnTo>
                  <a:lnTo>
                    <a:pt x="405257" y="12700"/>
                  </a:lnTo>
                  <a:cubicBezTo>
                    <a:pt x="188468" y="12700"/>
                    <a:pt x="12700" y="189357"/>
                    <a:pt x="12700" y="407416"/>
                  </a:cubicBezTo>
                  <a:close/>
                </a:path>
              </a:pathLst>
            </a:custGeom>
            <a:solidFill>
              <a:srgbClr val="DA33BF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2363499" y="8586404"/>
            <a:ext cx="411386" cy="2404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750"/>
              </a:lnSpc>
            </a:pPr>
            <a:r>
              <a:rPr lang="en-US" sz="1750" b="1" dirty="0">
                <a:solidFill>
                  <a:srgbClr val="00002E"/>
                </a:solidFill>
                <a:latin typeface="Nunito Bold"/>
                <a:ea typeface="Nunito Bold"/>
                <a:cs typeface="Nunito Bold"/>
                <a:sym typeface="Nunito Bold"/>
              </a:rPr>
              <a:t>3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3087529" y="8586404"/>
            <a:ext cx="1760039" cy="240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lang="en-US" sz="2000" b="1" dirty="0">
                <a:solidFill>
                  <a:srgbClr val="00002E"/>
                </a:solidFill>
                <a:latin typeface="Nunito Bold"/>
                <a:ea typeface="Nunito Bold"/>
                <a:cs typeface="Nunito Bold"/>
                <a:sym typeface="Nunito Bold"/>
              </a:rPr>
              <a:t>Slope Angle</a:t>
            </a:r>
          </a:p>
        </p:txBody>
      </p:sp>
      <p:grpSp>
        <p:nvGrpSpPr>
          <p:cNvPr id="29" name="Group 29"/>
          <p:cNvGrpSpPr/>
          <p:nvPr/>
        </p:nvGrpSpPr>
        <p:grpSpPr>
          <a:xfrm>
            <a:off x="7393047" y="5807702"/>
            <a:ext cx="607962" cy="907104"/>
            <a:chOff x="0" y="0"/>
            <a:chExt cx="810616" cy="1209472"/>
          </a:xfrm>
        </p:grpSpPr>
        <p:sp>
          <p:nvSpPr>
            <p:cNvPr id="30" name="Freeform 30"/>
            <p:cNvSpPr/>
            <p:nvPr/>
          </p:nvSpPr>
          <p:spPr>
            <a:xfrm>
              <a:off x="6350" y="6350"/>
              <a:ext cx="797941" cy="1196848"/>
            </a:xfrm>
            <a:custGeom>
              <a:avLst/>
              <a:gdLst/>
              <a:ahLst/>
              <a:cxnLst/>
              <a:rect l="l" t="t" r="r" b="b"/>
              <a:pathLst>
                <a:path w="797941" h="1196848">
                  <a:moveTo>
                    <a:pt x="0" y="401066"/>
                  </a:moveTo>
                  <a:cubicBezTo>
                    <a:pt x="0" y="179578"/>
                    <a:pt x="178562" y="0"/>
                    <a:pt x="398907" y="0"/>
                  </a:cubicBezTo>
                  <a:cubicBezTo>
                    <a:pt x="619252" y="0"/>
                    <a:pt x="797941" y="179578"/>
                    <a:pt x="797941" y="401066"/>
                  </a:cubicBezTo>
                  <a:lnTo>
                    <a:pt x="797941" y="795782"/>
                  </a:lnTo>
                  <a:cubicBezTo>
                    <a:pt x="797941" y="1017270"/>
                    <a:pt x="619379" y="1196848"/>
                    <a:pt x="399034" y="1196848"/>
                  </a:cubicBezTo>
                  <a:cubicBezTo>
                    <a:pt x="178689" y="1196848"/>
                    <a:pt x="0" y="1017270"/>
                    <a:pt x="0" y="795782"/>
                  </a:cubicBezTo>
                  <a:close/>
                </a:path>
              </a:pathLst>
            </a:custGeom>
            <a:solidFill>
              <a:srgbClr val="F3F3FF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31"/>
            <p:cNvSpPr/>
            <p:nvPr/>
          </p:nvSpPr>
          <p:spPr>
            <a:xfrm>
              <a:off x="0" y="0"/>
              <a:ext cx="810641" cy="1209548"/>
            </a:xfrm>
            <a:custGeom>
              <a:avLst/>
              <a:gdLst/>
              <a:ahLst/>
              <a:cxnLst/>
              <a:rect l="l" t="t" r="r" b="b"/>
              <a:pathLst>
                <a:path w="810641" h="1209548">
                  <a:moveTo>
                    <a:pt x="0" y="407416"/>
                  </a:moveTo>
                  <a:cubicBezTo>
                    <a:pt x="0" y="182372"/>
                    <a:pt x="181483" y="0"/>
                    <a:pt x="405257" y="0"/>
                  </a:cubicBezTo>
                  <a:cubicBezTo>
                    <a:pt x="407162" y="0"/>
                    <a:pt x="409067" y="889"/>
                    <a:pt x="410210" y="2413"/>
                  </a:cubicBezTo>
                  <a:lnTo>
                    <a:pt x="405257" y="6350"/>
                  </a:lnTo>
                  <a:lnTo>
                    <a:pt x="405257" y="0"/>
                  </a:lnTo>
                  <a:lnTo>
                    <a:pt x="405257" y="6350"/>
                  </a:lnTo>
                  <a:lnTo>
                    <a:pt x="405257" y="0"/>
                  </a:lnTo>
                  <a:cubicBezTo>
                    <a:pt x="629158" y="0"/>
                    <a:pt x="810641" y="182372"/>
                    <a:pt x="810641" y="407416"/>
                  </a:cubicBezTo>
                  <a:lnTo>
                    <a:pt x="810641" y="802132"/>
                  </a:lnTo>
                  <a:lnTo>
                    <a:pt x="804291" y="802132"/>
                  </a:lnTo>
                  <a:lnTo>
                    <a:pt x="810641" y="802132"/>
                  </a:lnTo>
                  <a:cubicBezTo>
                    <a:pt x="810641" y="1027049"/>
                    <a:pt x="629158" y="1209548"/>
                    <a:pt x="405384" y="1209548"/>
                  </a:cubicBezTo>
                  <a:lnTo>
                    <a:pt x="405384" y="1203198"/>
                  </a:lnTo>
                  <a:lnTo>
                    <a:pt x="405384" y="1209548"/>
                  </a:lnTo>
                  <a:cubicBezTo>
                    <a:pt x="181483" y="1209421"/>
                    <a:pt x="0" y="1027049"/>
                    <a:pt x="0" y="802132"/>
                  </a:cubicBezTo>
                  <a:lnTo>
                    <a:pt x="0" y="407416"/>
                  </a:lnTo>
                  <a:lnTo>
                    <a:pt x="6350" y="407416"/>
                  </a:lnTo>
                  <a:lnTo>
                    <a:pt x="0" y="407416"/>
                  </a:lnTo>
                  <a:moveTo>
                    <a:pt x="12700" y="407416"/>
                  </a:moveTo>
                  <a:lnTo>
                    <a:pt x="12700" y="802132"/>
                  </a:lnTo>
                  <a:lnTo>
                    <a:pt x="6350" y="802132"/>
                  </a:lnTo>
                  <a:lnTo>
                    <a:pt x="12700" y="802132"/>
                  </a:lnTo>
                  <a:cubicBezTo>
                    <a:pt x="12700" y="1020064"/>
                    <a:pt x="188468" y="1196721"/>
                    <a:pt x="405257" y="1196721"/>
                  </a:cubicBezTo>
                  <a:cubicBezTo>
                    <a:pt x="622046" y="1196721"/>
                    <a:pt x="797941" y="1020064"/>
                    <a:pt x="797941" y="802132"/>
                  </a:cubicBezTo>
                  <a:lnTo>
                    <a:pt x="797941" y="407416"/>
                  </a:lnTo>
                  <a:lnTo>
                    <a:pt x="804291" y="407416"/>
                  </a:lnTo>
                  <a:lnTo>
                    <a:pt x="797941" y="407416"/>
                  </a:lnTo>
                  <a:cubicBezTo>
                    <a:pt x="797941" y="189357"/>
                    <a:pt x="622046" y="12700"/>
                    <a:pt x="405257" y="12700"/>
                  </a:cubicBezTo>
                  <a:cubicBezTo>
                    <a:pt x="403352" y="12700"/>
                    <a:pt x="401447" y="11811"/>
                    <a:pt x="400304" y="10287"/>
                  </a:cubicBezTo>
                  <a:lnTo>
                    <a:pt x="405257" y="6350"/>
                  </a:lnTo>
                  <a:lnTo>
                    <a:pt x="405257" y="12700"/>
                  </a:lnTo>
                  <a:cubicBezTo>
                    <a:pt x="188468" y="12700"/>
                    <a:pt x="12700" y="189357"/>
                    <a:pt x="12700" y="407416"/>
                  </a:cubicBezTo>
                  <a:close/>
                </a:path>
              </a:pathLst>
            </a:custGeom>
            <a:solidFill>
              <a:srgbClr val="2D4DF2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620000" y="6168273"/>
            <a:ext cx="224285" cy="242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50"/>
              </a:lnSpc>
            </a:pPr>
            <a:r>
              <a:rPr lang="en-US" sz="1750" b="1" dirty="0">
                <a:solidFill>
                  <a:srgbClr val="00002E"/>
                </a:solidFill>
                <a:latin typeface="Nunito Bold"/>
                <a:ea typeface="Nunito Bold"/>
                <a:cs typeface="Nunito Bold"/>
                <a:sym typeface="Nunito Bold"/>
              </a:rPr>
              <a:t>4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8682942" y="7387618"/>
            <a:ext cx="1760039" cy="4584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lang="en-US" sz="2000" b="1" dirty="0">
                <a:solidFill>
                  <a:srgbClr val="00002E"/>
                </a:solidFill>
                <a:latin typeface="Nunito Bold"/>
                <a:ea typeface="Nunito Bold"/>
                <a:cs typeface="Nunito Bold"/>
                <a:sym typeface="Nunito Bold"/>
              </a:rPr>
              <a:t>Vegetation Cover</a:t>
            </a:r>
          </a:p>
        </p:txBody>
      </p:sp>
      <p:grpSp>
        <p:nvGrpSpPr>
          <p:cNvPr id="34" name="Group 34"/>
          <p:cNvGrpSpPr/>
          <p:nvPr/>
        </p:nvGrpSpPr>
        <p:grpSpPr>
          <a:xfrm>
            <a:off x="7393038" y="7020448"/>
            <a:ext cx="607962" cy="907104"/>
            <a:chOff x="0" y="0"/>
            <a:chExt cx="810616" cy="1209472"/>
          </a:xfrm>
        </p:grpSpPr>
        <p:sp>
          <p:nvSpPr>
            <p:cNvPr id="35" name="Freeform 35"/>
            <p:cNvSpPr/>
            <p:nvPr/>
          </p:nvSpPr>
          <p:spPr>
            <a:xfrm>
              <a:off x="6350" y="6350"/>
              <a:ext cx="797941" cy="1196848"/>
            </a:xfrm>
            <a:custGeom>
              <a:avLst/>
              <a:gdLst/>
              <a:ahLst/>
              <a:cxnLst/>
              <a:rect l="l" t="t" r="r" b="b"/>
              <a:pathLst>
                <a:path w="797941" h="1196848">
                  <a:moveTo>
                    <a:pt x="0" y="401066"/>
                  </a:moveTo>
                  <a:cubicBezTo>
                    <a:pt x="0" y="179578"/>
                    <a:pt x="178562" y="0"/>
                    <a:pt x="398907" y="0"/>
                  </a:cubicBezTo>
                  <a:cubicBezTo>
                    <a:pt x="619252" y="0"/>
                    <a:pt x="797941" y="179578"/>
                    <a:pt x="797941" y="401066"/>
                  </a:cubicBezTo>
                  <a:lnTo>
                    <a:pt x="797941" y="795782"/>
                  </a:lnTo>
                  <a:cubicBezTo>
                    <a:pt x="797941" y="1017270"/>
                    <a:pt x="619379" y="1196848"/>
                    <a:pt x="399034" y="1196848"/>
                  </a:cubicBezTo>
                  <a:cubicBezTo>
                    <a:pt x="178689" y="1196848"/>
                    <a:pt x="0" y="1017270"/>
                    <a:pt x="0" y="795782"/>
                  </a:cubicBezTo>
                  <a:close/>
                </a:path>
              </a:pathLst>
            </a:custGeom>
            <a:solidFill>
              <a:srgbClr val="F3F3FF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36"/>
            <p:cNvSpPr/>
            <p:nvPr/>
          </p:nvSpPr>
          <p:spPr>
            <a:xfrm>
              <a:off x="0" y="0"/>
              <a:ext cx="810641" cy="1209548"/>
            </a:xfrm>
            <a:custGeom>
              <a:avLst/>
              <a:gdLst/>
              <a:ahLst/>
              <a:cxnLst/>
              <a:rect l="l" t="t" r="r" b="b"/>
              <a:pathLst>
                <a:path w="810641" h="1209548">
                  <a:moveTo>
                    <a:pt x="0" y="407416"/>
                  </a:moveTo>
                  <a:cubicBezTo>
                    <a:pt x="0" y="182372"/>
                    <a:pt x="181483" y="0"/>
                    <a:pt x="405257" y="0"/>
                  </a:cubicBezTo>
                  <a:cubicBezTo>
                    <a:pt x="407162" y="0"/>
                    <a:pt x="409067" y="889"/>
                    <a:pt x="410210" y="2413"/>
                  </a:cubicBezTo>
                  <a:lnTo>
                    <a:pt x="405257" y="6350"/>
                  </a:lnTo>
                  <a:lnTo>
                    <a:pt x="405257" y="0"/>
                  </a:lnTo>
                  <a:lnTo>
                    <a:pt x="405257" y="6350"/>
                  </a:lnTo>
                  <a:lnTo>
                    <a:pt x="405257" y="0"/>
                  </a:lnTo>
                  <a:cubicBezTo>
                    <a:pt x="629158" y="0"/>
                    <a:pt x="810641" y="182372"/>
                    <a:pt x="810641" y="407416"/>
                  </a:cubicBezTo>
                  <a:lnTo>
                    <a:pt x="810641" y="802132"/>
                  </a:lnTo>
                  <a:lnTo>
                    <a:pt x="804291" y="802132"/>
                  </a:lnTo>
                  <a:lnTo>
                    <a:pt x="810641" y="802132"/>
                  </a:lnTo>
                  <a:cubicBezTo>
                    <a:pt x="810641" y="1027049"/>
                    <a:pt x="629158" y="1209548"/>
                    <a:pt x="405384" y="1209548"/>
                  </a:cubicBezTo>
                  <a:lnTo>
                    <a:pt x="405384" y="1203198"/>
                  </a:lnTo>
                  <a:lnTo>
                    <a:pt x="405384" y="1209548"/>
                  </a:lnTo>
                  <a:cubicBezTo>
                    <a:pt x="181483" y="1209421"/>
                    <a:pt x="0" y="1027049"/>
                    <a:pt x="0" y="802132"/>
                  </a:cubicBezTo>
                  <a:lnTo>
                    <a:pt x="0" y="407416"/>
                  </a:lnTo>
                  <a:lnTo>
                    <a:pt x="6350" y="407416"/>
                  </a:lnTo>
                  <a:lnTo>
                    <a:pt x="0" y="407416"/>
                  </a:lnTo>
                  <a:moveTo>
                    <a:pt x="12700" y="407416"/>
                  </a:moveTo>
                  <a:lnTo>
                    <a:pt x="12700" y="802132"/>
                  </a:lnTo>
                  <a:lnTo>
                    <a:pt x="6350" y="802132"/>
                  </a:lnTo>
                  <a:lnTo>
                    <a:pt x="12700" y="802132"/>
                  </a:lnTo>
                  <a:cubicBezTo>
                    <a:pt x="12700" y="1020064"/>
                    <a:pt x="188468" y="1196721"/>
                    <a:pt x="405257" y="1196721"/>
                  </a:cubicBezTo>
                  <a:cubicBezTo>
                    <a:pt x="622046" y="1196721"/>
                    <a:pt x="797941" y="1020064"/>
                    <a:pt x="797941" y="802132"/>
                  </a:cubicBezTo>
                  <a:lnTo>
                    <a:pt x="797941" y="407416"/>
                  </a:lnTo>
                  <a:lnTo>
                    <a:pt x="804291" y="407416"/>
                  </a:lnTo>
                  <a:lnTo>
                    <a:pt x="797941" y="407416"/>
                  </a:lnTo>
                  <a:cubicBezTo>
                    <a:pt x="797941" y="189357"/>
                    <a:pt x="622046" y="12700"/>
                    <a:pt x="405257" y="12700"/>
                  </a:cubicBezTo>
                  <a:cubicBezTo>
                    <a:pt x="403352" y="12700"/>
                    <a:pt x="401447" y="11811"/>
                    <a:pt x="400304" y="10287"/>
                  </a:cubicBezTo>
                  <a:lnTo>
                    <a:pt x="405257" y="6350"/>
                  </a:lnTo>
                  <a:lnTo>
                    <a:pt x="405257" y="12700"/>
                  </a:lnTo>
                  <a:cubicBezTo>
                    <a:pt x="188468" y="12700"/>
                    <a:pt x="12700" y="189357"/>
                    <a:pt x="12700" y="407416"/>
                  </a:cubicBezTo>
                  <a:close/>
                </a:path>
              </a:pathLst>
            </a:custGeom>
            <a:solidFill>
              <a:srgbClr val="018CE1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4877838" y="10385974"/>
            <a:ext cx="224285" cy="242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50"/>
              </a:lnSpc>
            </a:pPr>
            <a:r>
              <a:rPr lang="en-US" sz="1750" b="1">
                <a:solidFill>
                  <a:srgbClr val="00002E"/>
                </a:solidFill>
                <a:latin typeface="Nunito Bold"/>
                <a:ea typeface="Nunito Bold"/>
                <a:cs typeface="Nunito Bold"/>
                <a:sym typeface="Nunito Bold"/>
              </a:rPr>
              <a:t>5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8282058" y="6091008"/>
            <a:ext cx="1760039" cy="4584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lang="en-US" sz="2000" b="1" dirty="0">
                <a:solidFill>
                  <a:srgbClr val="00002E"/>
                </a:solidFill>
                <a:latin typeface="Nunito Bold"/>
                <a:ea typeface="Nunito Bold"/>
                <a:cs typeface="Nunito Bold"/>
                <a:sym typeface="Nunito Bold"/>
              </a:rPr>
              <a:t>Proximity to Water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CEC4D23-1BE7-74EB-15ED-1CEF95B1CA48}"/>
              </a:ext>
            </a:extLst>
          </p:cNvPr>
          <p:cNvSpPr txBox="1"/>
          <p:nvPr/>
        </p:nvSpPr>
        <p:spPr>
          <a:xfrm>
            <a:off x="7515629" y="727161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5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D5362955-1911-9960-FF23-B859EE1929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7400" y="392317"/>
            <a:ext cx="6408393" cy="513218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 descr="preencoded.png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3F3FF">
                <a:alpha val="56078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2999002" y="453101"/>
            <a:ext cx="7391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750"/>
              </a:lnSpc>
            </a:pPr>
            <a:r>
              <a:rPr lang="en-US" sz="4000" b="1" dirty="0">
                <a:solidFill>
                  <a:srgbClr val="00002E"/>
                </a:solidFill>
                <a:latin typeface="Nunito Bold"/>
                <a:ea typeface="Nunito Bold"/>
                <a:cs typeface="Nunito Bold"/>
                <a:sym typeface="Nunito Bold"/>
              </a:rPr>
              <a:t>ML Model &amp; Explainability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011437" y="1409791"/>
            <a:ext cx="5370563" cy="3924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12"/>
              </a:lnSpc>
            </a:pPr>
            <a:r>
              <a:rPr lang="en-US" sz="3200" b="1" dirty="0">
                <a:solidFill>
                  <a:srgbClr val="00002E"/>
                </a:solidFill>
                <a:latin typeface="Nunito Bold"/>
                <a:ea typeface="Nunito Bold"/>
                <a:cs typeface="Nunito Bold"/>
                <a:sym typeface="Nunito Bold"/>
              </a:rPr>
              <a:t>Machine Learning Model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006357" y="2028221"/>
            <a:ext cx="7128272" cy="13336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 sz="2310" dirty="0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We utilize a </a:t>
            </a:r>
            <a:r>
              <a:rPr lang="en-US" sz="2310" b="1" dirty="0">
                <a:solidFill>
                  <a:srgbClr val="00002E"/>
                </a:solidFill>
                <a:latin typeface="PT Sans Bold"/>
                <a:ea typeface="PT Sans Bold"/>
                <a:cs typeface="PT Sans Bold"/>
                <a:sym typeface="PT Sans Bold"/>
              </a:rPr>
              <a:t>Random Forest Classifier</a:t>
            </a:r>
            <a:r>
              <a:rPr lang="en-US" sz="2310" dirty="0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 with 300 trees and an average depth of approximately 9. This model provides a binary output: predicting 'Yes' or 'No' for landslide risk.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036836" y="3418437"/>
            <a:ext cx="3744963" cy="3616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12"/>
              </a:lnSpc>
            </a:pPr>
            <a:r>
              <a:rPr lang="en-US" sz="2400" b="1" dirty="0">
                <a:solidFill>
                  <a:srgbClr val="00002E"/>
                </a:solidFill>
                <a:latin typeface="Nunito Bold"/>
                <a:ea typeface="Nunito Bold"/>
                <a:cs typeface="Nunito Bold"/>
                <a:sym typeface="Nunito Bold"/>
              </a:rPr>
              <a:t>Why Random Forest?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999002" y="3862036"/>
            <a:ext cx="7128272" cy="666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35645" lvl="1" indent="-117822" algn="l">
              <a:lnSpc>
                <a:spcPts val="2562"/>
              </a:lnSpc>
              <a:buFont typeface="Arial"/>
              <a:buChar char="•"/>
            </a:pPr>
            <a:r>
              <a:rPr lang="en-US" sz="2310" dirty="0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Exceptional handling of non-linear geophysical data patterns.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999002" y="4687387"/>
            <a:ext cx="7128272" cy="666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35645" lvl="1" indent="-117822" algn="l">
              <a:lnSpc>
                <a:spcPts val="2562"/>
              </a:lnSpc>
              <a:buFont typeface="Arial"/>
              <a:buChar char="•"/>
            </a:pPr>
            <a:r>
              <a:rPr lang="en-US" sz="2310" dirty="0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Robustness against data noise and missing sensor inputs.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036836" y="5470252"/>
            <a:ext cx="7128272" cy="666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35645" lvl="1" indent="-117822" algn="l">
              <a:lnSpc>
                <a:spcPts val="2562"/>
              </a:lnSpc>
              <a:buFont typeface="Arial"/>
              <a:buChar char="•"/>
            </a:pPr>
            <a:r>
              <a:rPr lang="en-US" sz="2310" dirty="0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High explainability through feature importance, crucial for trust.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999002" y="6472780"/>
            <a:ext cx="10726788" cy="6668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 sz="2310" b="1" dirty="0">
                <a:solidFill>
                  <a:srgbClr val="00002E"/>
                </a:solidFill>
                <a:latin typeface="PT Sans Bold"/>
                <a:ea typeface="PT Sans Bold"/>
                <a:cs typeface="PT Sans Bold"/>
                <a:sym typeface="PT Sans Bold"/>
              </a:rPr>
              <a:t>Model Insight :</a:t>
            </a:r>
            <a:r>
              <a:rPr lang="en-US" sz="2310" dirty="0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 Rainfall is a trigger — soil saturation decides </a:t>
            </a:r>
          </a:p>
          <a:p>
            <a:pPr algn="l">
              <a:lnSpc>
                <a:spcPts val="2562"/>
              </a:lnSpc>
            </a:pPr>
            <a:r>
              <a:rPr lang="en-US" sz="2310" dirty="0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failure.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008262" y="7237947"/>
            <a:ext cx="2413845" cy="323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2400" b="1" dirty="0">
                <a:solidFill>
                  <a:srgbClr val="00002E"/>
                </a:solidFill>
                <a:latin typeface="Nunito Bold"/>
                <a:ea typeface="Nunito Bold"/>
                <a:cs typeface="Nunito Bold"/>
                <a:sym typeface="Nunito Bold"/>
              </a:rPr>
              <a:t>Top Predictors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008262" y="7742870"/>
            <a:ext cx="11951941" cy="3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35645" lvl="1" indent="-117822" algn="l">
              <a:lnSpc>
                <a:spcPts val="2562"/>
              </a:lnSpc>
              <a:buFont typeface="Arial"/>
              <a:buChar char="•"/>
            </a:pPr>
            <a:r>
              <a:rPr lang="en-US" sz="2310" dirty="0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Soil Saturation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3008261" y="8220078"/>
            <a:ext cx="11951941" cy="3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35645" lvl="1" indent="-117822" algn="l">
              <a:lnSpc>
                <a:spcPts val="2562"/>
              </a:lnSpc>
              <a:buFont typeface="Arial"/>
              <a:buChar char="•"/>
            </a:pPr>
            <a:r>
              <a:rPr lang="en-US" sz="2310" dirty="0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Earthquake / Vibration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3036836" y="8674426"/>
            <a:ext cx="11951941" cy="3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35645" lvl="1" indent="-117822" algn="l">
              <a:lnSpc>
                <a:spcPts val="2562"/>
              </a:lnSpc>
              <a:buFont typeface="Arial"/>
              <a:buChar char="•"/>
            </a:pPr>
            <a:r>
              <a:rPr lang="en-US" sz="2310" dirty="0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Rainfall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036836" y="9056043"/>
            <a:ext cx="11951941" cy="3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35645" lvl="1" indent="-117822" algn="l">
              <a:lnSpc>
                <a:spcPts val="2562"/>
              </a:lnSpc>
              <a:buFont typeface="Arial"/>
              <a:buChar char="•"/>
            </a:pPr>
            <a:r>
              <a:rPr lang="en-US" sz="2310" dirty="0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Proximity to Water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55C9FDDD-39EA-8B28-50CA-75FE085AEF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800" y="1771480"/>
            <a:ext cx="5981700" cy="5905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 descr="preencoded.png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3F3FF">
                <a:alpha val="56078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2098919" y="632069"/>
            <a:ext cx="8510740" cy="715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37"/>
              </a:lnSpc>
            </a:pPr>
            <a:r>
              <a:rPr lang="en-US" sz="4375" b="1" dirty="0">
                <a:solidFill>
                  <a:srgbClr val="00002E"/>
                </a:solidFill>
                <a:latin typeface="Nunito Bold"/>
                <a:ea typeface="Nunito Bold"/>
                <a:cs typeface="Nunito Bold"/>
                <a:sym typeface="Nunito Bold"/>
              </a:rPr>
              <a:t>Offline &amp; Failure-Resilient Design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442247" y="1929261"/>
            <a:ext cx="4807153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49"/>
              </a:lnSpc>
            </a:pPr>
            <a:r>
              <a:rPr lang="en-US" sz="2625" b="1" dirty="0">
                <a:solidFill>
                  <a:srgbClr val="00002E"/>
                </a:solidFill>
                <a:latin typeface="Nunito Bold"/>
                <a:ea typeface="Nunito Bold"/>
                <a:cs typeface="Nunito Bold"/>
                <a:sym typeface="Nunito Bold"/>
              </a:rPr>
              <a:t>Offline-First Architecture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442247" y="2526354"/>
            <a:ext cx="6756349" cy="4452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73348" lvl="1" indent="-136674" algn="l">
              <a:lnSpc>
                <a:spcPts val="2937"/>
              </a:lnSpc>
              <a:buFont typeface="Arial"/>
              <a:buChar char="•"/>
            </a:pPr>
            <a:r>
              <a:rPr lang="en-US" sz="1812" dirty="0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The ML model operates entirely on a dedicated </a:t>
            </a:r>
            <a:r>
              <a:rPr lang="en-US" sz="1812" b="1" dirty="0">
                <a:solidFill>
                  <a:srgbClr val="00002E"/>
                </a:solidFill>
                <a:latin typeface="PT Sans Bold"/>
                <a:ea typeface="PT Sans Bold"/>
                <a:cs typeface="PT Sans Bold"/>
                <a:sym typeface="PT Sans Bold"/>
              </a:rPr>
              <a:t>edge device</a:t>
            </a:r>
            <a:r>
              <a:rPr lang="en-US" sz="1812" dirty="0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442247" y="2987726"/>
            <a:ext cx="6756349" cy="8239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73348" lvl="1" indent="-136674" algn="l">
              <a:lnSpc>
                <a:spcPts val="2937"/>
              </a:lnSpc>
              <a:buFont typeface="Arial"/>
              <a:buChar char="•"/>
            </a:pPr>
            <a:r>
              <a:rPr lang="en-US" sz="1812" dirty="0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No live cloud calls are needed, ensuring operation during outages.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442247" y="3827707"/>
            <a:ext cx="6756349" cy="4452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73348" lvl="1" indent="-136674" algn="l">
              <a:lnSpc>
                <a:spcPts val="2937"/>
              </a:lnSpc>
              <a:buFont typeface="Arial"/>
              <a:buChar char="•"/>
            </a:pPr>
            <a:r>
              <a:rPr lang="en-US" sz="1812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Dashboard functionalities and alert systems function </a:t>
            </a:r>
            <a:r>
              <a:rPr lang="en-US" sz="1812" b="1">
                <a:solidFill>
                  <a:srgbClr val="00002E"/>
                </a:solidFill>
                <a:latin typeface="PT Sans Bold"/>
                <a:ea typeface="PT Sans Bold"/>
                <a:cs typeface="PT Sans Bold"/>
                <a:sym typeface="PT Sans Bold"/>
              </a:rPr>
              <a:t>locally</a:t>
            </a:r>
            <a:r>
              <a:rPr lang="en-US" sz="1812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442246" y="4500116"/>
            <a:ext cx="4273753" cy="4073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49"/>
              </a:lnSpc>
            </a:pPr>
            <a:r>
              <a:rPr lang="en-US" sz="2625" b="1" dirty="0">
                <a:solidFill>
                  <a:srgbClr val="00002E"/>
                </a:solidFill>
                <a:latin typeface="Nunito Bold"/>
                <a:ea typeface="Nunito Bold"/>
                <a:cs typeface="Nunito Bold"/>
                <a:sym typeface="Nunito Bold"/>
              </a:rPr>
              <a:t>Sensor Failure Handling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442247" y="5097218"/>
            <a:ext cx="6756349" cy="4452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73348" lvl="1" indent="-136674" algn="l">
              <a:lnSpc>
                <a:spcPts val="2937"/>
              </a:lnSpc>
              <a:buFont typeface="Arial"/>
              <a:buChar char="•"/>
            </a:pPr>
            <a:r>
              <a:rPr lang="en-US" sz="1812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Intelligent algorithms detect and address faulty sensors.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442247" y="5558580"/>
            <a:ext cx="6756349" cy="8239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73348" lvl="1" indent="-136674" algn="l">
              <a:lnSpc>
                <a:spcPts val="2937"/>
              </a:lnSpc>
              <a:buFont typeface="Arial"/>
              <a:buChar char="•"/>
            </a:pPr>
            <a:r>
              <a:rPr lang="en-US" sz="1812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Drift readings are automatically discarded to maintain accuracy.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442247" y="6398571"/>
            <a:ext cx="6756349" cy="8239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73348" lvl="1" indent="-136674" algn="l">
              <a:lnSpc>
                <a:spcPts val="2937"/>
              </a:lnSpc>
              <a:buFont typeface="Arial"/>
              <a:buChar char="•"/>
            </a:pPr>
            <a:r>
              <a:rPr lang="en-US" sz="1812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System </a:t>
            </a:r>
            <a:r>
              <a:rPr lang="en-US" sz="1812" b="1">
                <a:solidFill>
                  <a:srgbClr val="00002E"/>
                </a:solidFill>
                <a:latin typeface="PT Sans Bold"/>
                <a:ea typeface="PT Sans Bold"/>
                <a:cs typeface="PT Sans Bold"/>
                <a:sym typeface="PT Sans Bold"/>
              </a:rPr>
              <a:t>reduces confidence</a:t>
            </a:r>
            <a:r>
              <a:rPr lang="en-US" sz="1812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 in predictions, rather than ceasing them.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098919" y="9190587"/>
            <a:ext cx="14090152" cy="4452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</a:pPr>
            <a:r>
              <a:rPr lang="en-US" sz="1812" i="1" dirty="0">
                <a:solidFill>
                  <a:srgbClr val="00002E"/>
                </a:solidFill>
                <a:latin typeface="PT Sans Italics"/>
                <a:ea typeface="PT Sans Italics"/>
                <a:cs typeface="PT Sans Italics"/>
                <a:sym typeface="PT Sans Italics"/>
              </a:rPr>
              <a:t>“We separate risk estimation from confidence estimation.”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F5299F0-9857-4867-272F-D7B7EB326E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16" b="6067"/>
          <a:stretch>
            <a:fillRect/>
          </a:stretch>
        </p:blipFill>
        <p:spPr>
          <a:xfrm>
            <a:off x="1095068" y="2129093"/>
            <a:ext cx="7058332" cy="641037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 descr="preencoded.png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3F3FF">
                <a:alpha val="56078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2077193" y="633708"/>
            <a:ext cx="8061722" cy="7173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37"/>
              </a:lnSpc>
            </a:pPr>
            <a:r>
              <a:rPr lang="en-US" sz="4375" b="1">
                <a:solidFill>
                  <a:srgbClr val="00002E"/>
                </a:solidFill>
                <a:latin typeface="Nunito Bold"/>
                <a:ea typeface="Nunito Bold"/>
                <a:cs typeface="Nunito Bold"/>
                <a:sym typeface="Nunito Bold"/>
              </a:rPr>
              <a:t>Validation, Impact &amp; Conclusion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077193" y="1934918"/>
            <a:ext cx="3351762" cy="4284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9"/>
              </a:lnSpc>
            </a:pPr>
            <a:r>
              <a:rPr lang="en-US" sz="2625" b="1">
                <a:solidFill>
                  <a:srgbClr val="00002E"/>
                </a:solidFill>
                <a:latin typeface="Nunito Bold"/>
                <a:ea typeface="Nunito Bold"/>
                <a:cs typeface="Nunito Bold"/>
                <a:sym typeface="Nunito Bold"/>
              </a:rPr>
              <a:t>Definition of Done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077193" y="2534098"/>
            <a:ext cx="7512691" cy="7102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73348" lvl="1" indent="-136674" algn="l">
              <a:lnSpc>
                <a:spcPts val="2937"/>
              </a:lnSpc>
              <a:buFont typeface="Arial"/>
              <a:buChar char="•"/>
            </a:pPr>
            <a:r>
              <a:rPr lang="en-US" sz="1812" dirty="0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Successfully backtested on historical events, including </a:t>
            </a:r>
          </a:p>
          <a:p>
            <a:pPr marL="136674" lvl="1" algn="l">
              <a:lnSpc>
                <a:spcPts val="2937"/>
              </a:lnSpc>
            </a:pPr>
            <a:r>
              <a:rPr lang="en-US" sz="1812" dirty="0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Himachal 2023.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077193" y="3376765"/>
            <a:ext cx="7512691" cy="33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73348" lvl="1" indent="-136674" algn="l">
              <a:lnSpc>
                <a:spcPts val="2937"/>
              </a:lnSpc>
              <a:buFont typeface="Arial"/>
              <a:buChar char="•"/>
            </a:pPr>
            <a:r>
              <a:rPr lang="en-US" sz="1812" dirty="0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Achieved greater than 4 hours lead time for warnings.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077193" y="3839613"/>
            <a:ext cx="7512691" cy="7102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73348" lvl="1" indent="-136674" algn="l">
              <a:lnSpc>
                <a:spcPts val="2937"/>
              </a:lnSpc>
              <a:buFont typeface="Arial"/>
              <a:buChar char="•"/>
            </a:pPr>
            <a:r>
              <a:rPr lang="en-US" sz="1812" dirty="0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Initiated local-only 160-character SMS alerts during blackout </a:t>
            </a:r>
          </a:p>
          <a:p>
            <a:pPr marL="136674" lvl="1" algn="l">
              <a:lnSpc>
                <a:spcPts val="2937"/>
              </a:lnSpc>
            </a:pPr>
            <a:r>
              <a:rPr lang="en-US" sz="1812" dirty="0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conditions.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077193" y="4893764"/>
            <a:ext cx="3351762" cy="4284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9"/>
              </a:lnSpc>
            </a:pPr>
            <a:r>
              <a:rPr lang="en-US" sz="2625" b="1">
                <a:solidFill>
                  <a:srgbClr val="00002E"/>
                </a:solidFill>
                <a:latin typeface="Nunito Bold"/>
                <a:ea typeface="Nunito Bold"/>
                <a:cs typeface="Nunito Bold"/>
                <a:sym typeface="Nunito Bold"/>
              </a:rPr>
              <a:t>Impact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077193" y="5492953"/>
            <a:ext cx="7512691" cy="4464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73348" lvl="1" indent="-136674" algn="l">
              <a:lnSpc>
                <a:spcPts val="2937"/>
              </a:lnSpc>
              <a:buFont typeface="Arial"/>
              <a:buChar char="•"/>
            </a:pPr>
            <a:r>
              <a:rPr lang="en-US" sz="1812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Enables faster, more informed evacuation decisions.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077193" y="5955802"/>
            <a:ext cx="7512691" cy="4464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73348" lvl="1" indent="-136674" algn="l">
              <a:lnSpc>
                <a:spcPts val="2937"/>
              </a:lnSpc>
              <a:buFont typeface="Arial"/>
              <a:buChar char="•"/>
            </a:pPr>
            <a:r>
              <a:rPr lang="en-US" sz="1812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Delivers hyper-local alerts directly to at-risk communities.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077193" y="6418659"/>
            <a:ext cx="7512691" cy="4464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73348" lvl="1" indent="-136674" algn="l">
              <a:lnSpc>
                <a:spcPts val="2937"/>
              </a:lnSpc>
              <a:buFont typeface="Arial"/>
              <a:buChar char="•"/>
            </a:pPr>
            <a:r>
              <a:rPr lang="en-US" sz="1812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Guarantees operation even during critical internet outages.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077193" y="6881517"/>
            <a:ext cx="7512691" cy="4464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73348" lvl="1" indent="-136674" algn="l">
              <a:lnSpc>
                <a:spcPts val="2937"/>
              </a:lnSpc>
              <a:buFont typeface="Arial"/>
              <a:buChar char="•"/>
            </a:pPr>
            <a:r>
              <a:rPr lang="en-US" sz="1812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Designed for scalability across all hill districts.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178653" y="8215760"/>
            <a:ext cx="6041384" cy="12061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</a:pPr>
            <a:r>
              <a:rPr lang="en-US" sz="1812">
                <a:solidFill>
                  <a:srgbClr val="00002E"/>
                </a:solidFill>
                <a:latin typeface="PT Sans"/>
                <a:ea typeface="PT Sans"/>
                <a:cs typeface="PT Sans"/>
                <a:sym typeface="PT Sans"/>
              </a:rPr>
              <a:t>Sentinel-LEWS empowers District Disaster Management Officers with the vital tool needed to safeguard lives and livelihoods.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B276C6B0-49C0-0563-E884-899811C65B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727" b="12688"/>
          <a:stretch>
            <a:fillRect/>
          </a:stretch>
        </p:blipFill>
        <p:spPr>
          <a:xfrm>
            <a:off x="9144000" y="1286337"/>
            <a:ext cx="8915400" cy="580490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</TotalTime>
  <Words>837</Words>
  <Application>Microsoft Office PowerPoint</Application>
  <PresentationFormat>Custom</PresentationFormat>
  <Paragraphs>94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PT Sans Italics</vt:lpstr>
      <vt:lpstr>Nunito Bold</vt:lpstr>
      <vt:lpstr>PT Sans Bold</vt:lpstr>
      <vt:lpstr>PT Sans</vt:lpstr>
      <vt:lpstr>Calibri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AT -7</dc:creator>
  <cp:lastModifiedBy>AT -7</cp:lastModifiedBy>
  <cp:revision>4</cp:revision>
  <dcterms:created xsi:type="dcterms:W3CDTF">2006-08-16T00:00:00Z</dcterms:created>
  <dcterms:modified xsi:type="dcterms:W3CDTF">2026-01-22T12:51:25Z</dcterms:modified>
  <dc:identifier>DAG_Is3yw7g</dc:identifier>
</cp:coreProperties>
</file>