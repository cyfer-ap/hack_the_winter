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8" r:id="rId13"/>
    <p:sldId id="265" r:id="rId14"/>
  </p:sldIdLst>
  <p:sldSz cx="18288000" cy="10287000"/>
  <p:notesSz cx="6858000" cy="9144000"/>
  <p:embeddedFontLst>
    <p:embeddedFont>
      <p:font typeface="Nunito Bold" panose="020B0604020202020204" charset="0"/>
      <p:regular r:id="rId15"/>
    </p:embeddedFont>
    <p:embeddedFont>
      <p:font typeface="PT Sans" panose="020B0503020203020204" pitchFamily="34" charset="0"/>
      <p:regular r:id="rId16"/>
      <p:bold r:id="rId17"/>
      <p:italic r:id="rId18"/>
      <p:boldItalic r:id="rId19"/>
    </p:embeddedFont>
    <p:embeddedFont>
      <p:font typeface="PT Sans Bold" panose="020B0703020203020204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39400" y="1920549"/>
            <a:ext cx="7040613" cy="908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 dirty="0" err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LandSense</a:t>
            </a:r>
            <a:endParaRPr lang="en-US" sz="5500" b="1" dirty="0">
              <a:solidFill>
                <a:srgbClr val="00002E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905159" y="3355334"/>
            <a:ext cx="9335691" cy="898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Rapid-Response Geo-Intelligence for Landslide Early Warning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05159" y="4607719"/>
            <a:ext cx="9335691" cy="1903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Sentinel-LEWS is a critical initiative focused on delivering hyper-local landslide risk prediction with unparalleled precision. Our system provides a 6-hour early warning at a 100 m² resolution, operating fully edge-native and offline to ensure reliability when it matters most.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5159" y="6859343"/>
            <a:ext cx="9335691" cy="105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Our primary target user is the District Disaster Management Officer, who requires immediate, actionable intelligence to protect communities.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8D2304-57E1-8DFB-9608-FFC1CA05D069}"/>
              </a:ext>
            </a:extLst>
          </p:cNvPr>
          <p:cNvSpPr txBox="1"/>
          <p:nvPr/>
        </p:nvSpPr>
        <p:spPr>
          <a:xfrm>
            <a:off x="7905159" y="8496300"/>
            <a:ext cx="901124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Team Name: Team_Genz</a:t>
            </a:r>
            <a:br>
              <a:rPr lang="en-US" sz="2000" dirty="0"/>
            </a:br>
            <a:r>
              <a:rPr lang="en-US" sz="2000" b="1" dirty="0"/>
              <a:t>Hackathon: </a:t>
            </a:r>
            <a:r>
              <a:rPr lang="en-US" sz="2000" dirty="0"/>
              <a:t>Hack The Winter</a:t>
            </a:r>
            <a:br>
              <a:rPr lang="en-US" sz="2000" dirty="0"/>
            </a:br>
            <a:r>
              <a:rPr lang="en-US" sz="2000" b="1" dirty="0"/>
              <a:t>Theme:</a:t>
            </a:r>
            <a:r>
              <a:rPr lang="en-US" sz="2000" dirty="0"/>
              <a:t> Disaster Resilience / Governance</a:t>
            </a:r>
            <a:br>
              <a:rPr lang="en-US" sz="2000" dirty="0"/>
            </a:br>
            <a:r>
              <a:rPr lang="en-US" sz="2000" b="1" dirty="0"/>
              <a:t>Domain:</a:t>
            </a:r>
            <a:r>
              <a:rPr lang="en-US" sz="2000" dirty="0"/>
              <a:t> Machine Learning + IoT + Early Warning Systems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91D935-7899-D111-4F00-2865FA0EDC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" y="0"/>
            <a:ext cx="748284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9166" y="-1524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>
            <a:hlinkClick r:id="rId3" tooltip="https://gamma.app/?utm_source=made-with-gamma"/>
          </p:cNvPr>
          <p:cNvSpPr/>
          <p:nvPr/>
        </p:nvSpPr>
        <p:spPr>
          <a:xfrm>
            <a:off x="16049015" y="9686925"/>
            <a:ext cx="2153260" cy="514350"/>
          </a:xfrm>
          <a:custGeom>
            <a:avLst/>
            <a:gdLst/>
            <a:ahLst/>
            <a:cxnLst/>
            <a:rect l="l" t="t" r="r" b="b"/>
            <a:pathLst>
              <a:path w="2153260" h="51435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47159" y="1467145"/>
            <a:ext cx="9335691" cy="178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Why Landslides Are Still Deadly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7159" y="3609232"/>
            <a:ext cx="9335691" cy="153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India’s hilly regions face devastating and sudden landslides, often leading to significant loss of life and property. Existing early warning systems fall short: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7159" y="5382073"/>
            <a:ext cx="9335691" cy="105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8754" lvl="1" indent="-174377" algn="l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They operate at a district level, offering predictions that are too coarse for effective localized response.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159" y="6444253"/>
            <a:ext cx="9335691" cy="105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8754" lvl="1" indent="-174377" algn="l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Many are cloud-dependent, rendering them useless during critical monsoon-induced network outages.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7159" y="7738320"/>
            <a:ext cx="9335691" cy="105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1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The key failure is a lack of systems that work locally, offline, and at a hyper-local scale, leaving vulnerable communities exposed.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47483F-F72E-DF38-EF65-891F37E5AF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1" y="-7620"/>
            <a:ext cx="7117080" cy="102946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620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876880" y="781498"/>
            <a:ext cx="9392241" cy="1731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74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User Story &amp; Hard Constraints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13534" y="3181798"/>
            <a:ext cx="8955586" cy="1492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249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As a District Officer, I want to predict landslide risks at a 100m² resolution using fused sensor data to issue hyper-local evacuation alerts 6 hours before an event.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876880" y="2949626"/>
            <a:ext cx="38100" cy="2051895"/>
            <a:chOff x="0" y="0"/>
            <a:chExt cx="50800" cy="27358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00" cy="2735834"/>
            </a:xfrm>
            <a:custGeom>
              <a:avLst/>
              <a:gdLst/>
              <a:ahLst/>
              <a:cxnLst/>
              <a:rect l="l" t="t" r="r" b="b"/>
              <a:pathLst>
                <a:path w="50800" h="2735834">
                  <a:moveTo>
                    <a:pt x="0" y="0"/>
                  </a:moveTo>
                  <a:lnTo>
                    <a:pt x="50800" y="0"/>
                  </a:lnTo>
                  <a:lnTo>
                    <a:pt x="50800" y="2735834"/>
                  </a:lnTo>
                  <a:lnTo>
                    <a:pt x="0" y="2735834"/>
                  </a:lnTo>
                  <a:close/>
                </a:path>
              </a:pathLst>
            </a:custGeom>
            <a:solidFill>
              <a:srgbClr val="2D4DF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876880" y="5428659"/>
            <a:ext cx="6906368" cy="507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99"/>
              </a:lnSpc>
            </a:pPr>
            <a:r>
              <a:rPr lang="en-US" sz="3187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Hard Constraints for </a:t>
            </a:r>
            <a:r>
              <a:rPr lang="en-US" sz="3200" b="1" dirty="0" err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LandSense</a:t>
            </a:r>
            <a:r>
              <a:rPr lang="en-US" sz="3187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 :</a:t>
            </a:r>
            <a:endParaRPr lang="en-US" sz="3200" b="1" dirty="0">
              <a:solidFill>
                <a:srgbClr val="00002E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914980" y="6599343"/>
            <a:ext cx="9392241" cy="560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3624"/>
              </a:lnSpc>
              <a:buFont typeface="Arial"/>
              <a:buChar char="•"/>
            </a:pPr>
            <a:r>
              <a:rPr lang="en-US" sz="2249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Response Time:</a:t>
            </a:r>
            <a:r>
              <a:rPr lang="en-US" sz="2249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Less than 15 seconds for a 500 km² area.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76879" y="7207215"/>
            <a:ext cx="9392241" cy="1026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3624"/>
              </a:lnSpc>
              <a:buFont typeface="Arial"/>
              <a:buChar char="•"/>
            </a:pPr>
            <a:r>
              <a:rPr lang="en-US" sz="2249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Model Size:</a:t>
            </a:r>
            <a:r>
              <a:rPr lang="en-US" sz="2249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Model must be under 50 MB for edge hardware deployment.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76880" y="7893996"/>
            <a:ext cx="9392241" cy="560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3624"/>
              </a:lnSpc>
              <a:buFont typeface="Arial"/>
              <a:buChar char="•"/>
            </a:pPr>
            <a:r>
              <a:rPr lang="en-US" sz="2249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Data Synchronization:</a:t>
            </a:r>
            <a:r>
              <a:rPr lang="en-US" sz="2249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Requires 256 kbps VSAT sync capability.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76880" y="8461477"/>
            <a:ext cx="9392241" cy="1026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3624"/>
              </a:lnSpc>
              <a:buFont typeface="Arial"/>
              <a:buChar char="•"/>
            </a:pPr>
            <a:r>
              <a:rPr lang="en-US" sz="2249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Operational Independence:</a:t>
            </a:r>
            <a:r>
              <a:rPr lang="en-US" sz="2249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Absolutely no cloud dependency for core functions.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60C64F-3EA4-4BB7-C1C8-67983F0B9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262"/>
            <a:ext cx="7294655" cy="102537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881DB-C19B-7694-5C1B-E3F2B2089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500" dirty="0">
                <a:latin typeface="Nunito Bold" panose="020B0604020202020204" charset="0"/>
              </a:rPr>
              <a:t>System Requirements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7AA35D-119E-EB28-8908-DFCEF084F1EB}"/>
              </a:ext>
            </a:extLst>
          </p:cNvPr>
          <p:cNvSpPr txBox="1"/>
          <p:nvPr/>
        </p:nvSpPr>
        <p:spPr>
          <a:xfrm>
            <a:off x="1524000" y="1866900"/>
            <a:ext cx="7620000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Functional Requirements</a:t>
            </a:r>
          </a:p>
          <a:p>
            <a:endParaRPr lang="en-US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10" dirty="0"/>
              <a:t>Ingest DEM, rainfall, vegetation, soil and sensor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10" dirty="0"/>
              <a:t>Derive soil saturation from rainfall and terrain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10" dirty="0"/>
              <a:t>Generate landslide risk prediction (Yes / No)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10" dirty="0"/>
              <a:t>Process 500 km² area within 15 seconds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10" dirty="0"/>
              <a:t>Handle faulty sensor readings automatically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10" dirty="0"/>
              <a:t>Provide feature importance for explainability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10" dirty="0"/>
              <a:t>Operate fully offline on edge hardware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10" dirty="0"/>
              <a:t>Generate hyper-local evacuation alerts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10" dirty="0"/>
              <a:t>Send 160-character SMS alerts during blackout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10" dirty="0"/>
              <a:t>Display risk zones and confidence levels on local dashboard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A6473C-49BA-0315-E13A-1EC26F2EB0C7}"/>
              </a:ext>
            </a:extLst>
          </p:cNvPr>
          <p:cNvSpPr txBox="1"/>
          <p:nvPr/>
        </p:nvSpPr>
        <p:spPr>
          <a:xfrm>
            <a:off x="9141542" y="1866900"/>
            <a:ext cx="8458200" cy="4198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Non-Functional Requirements</a:t>
            </a:r>
          </a:p>
          <a:p>
            <a:endParaRPr lang="en-US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10" dirty="0"/>
              <a:t>Prediction model size must be under 50 MB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10" dirty="0"/>
              <a:t>System must work without internet connectivity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10" dirty="0"/>
              <a:t>High reliability during sensor failures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10" dirty="0"/>
              <a:t>Scalable across multiple hill districts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10" dirty="0"/>
              <a:t>Easy to use for district officers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10" dirty="0"/>
              <a:t>High prediction accuracy with minimal false negatives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10" dirty="0"/>
              <a:t>Secure access to prediction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10" dirty="0"/>
              <a:t>Support future model upgrades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5590BF-D3A7-7254-F11E-E9B7B964C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6623778"/>
            <a:ext cx="7772400" cy="33885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644515-11C0-1F00-55A4-D0E273BFE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880" y="6633154"/>
            <a:ext cx="7620000" cy="338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33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47159" y="1862585"/>
            <a:ext cx="10696013" cy="908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Real-World Challenges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7159" y="3818334"/>
            <a:ext cx="5198421" cy="4577353"/>
            <a:chOff x="0" y="0"/>
            <a:chExt cx="6931228" cy="61031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31279" cy="6103112"/>
            </a:xfrm>
            <a:custGeom>
              <a:avLst/>
              <a:gdLst/>
              <a:ahLst/>
              <a:cxnLst/>
              <a:rect l="l" t="t" r="r" b="b"/>
              <a:pathLst>
                <a:path w="6931279" h="61031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687439" y="0"/>
                  </a:lnTo>
                  <a:cubicBezTo>
                    <a:pt x="6822059" y="0"/>
                    <a:pt x="6931279" y="109220"/>
                    <a:pt x="6931279" y="243840"/>
                  </a:cubicBezTo>
                  <a:lnTo>
                    <a:pt x="6931279" y="5859272"/>
                  </a:lnTo>
                  <a:cubicBezTo>
                    <a:pt x="6931279" y="5993892"/>
                    <a:pt x="6822059" y="6103112"/>
                    <a:pt x="6687439" y="6103112"/>
                  </a:cubicBezTo>
                  <a:lnTo>
                    <a:pt x="243840" y="6103112"/>
                  </a:lnTo>
                  <a:cubicBezTo>
                    <a:pt x="109220" y="6103112"/>
                    <a:pt x="0" y="5993892"/>
                    <a:pt x="0" y="5859272"/>
                  </a:cubicBez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47159" y="3780234"/>
            <a:ext cx="5198421" cy="152400"/>
            <a:chOff x="0" y="0"/>
            <a:chExt cx="6931228" cy="203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31279" cy="203200"/>
            </a:xfrm>
            <a:custGeom>
              <a:avLst/>
              <a:gdLst/>
              <a:ahLst/>
              <a:cxnLst/>
              <a:rect l="l" t="t" r="r" b="b"/>
              <a:pathLst>
                <a:path w="6931279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29679" y="0"/>
                  </a:lnTo>
                  <a:cubicBezTo>
                    <a:pt x="6885813" y="0"/>
                    <a:pt x="6931279" y="45466"/>
                    <a:pt x="6931279" y="101600"/>
                  </a:cubicBezTo>
                  <a:cubicBezTo>
                    <a:pt x="6931279" y="157734"/>
                    <a:pt x="6885813" y="203200"/>
                    <a:pt x="6829679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2D4DF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197495" y="3369621"/>
            <a:ext cx="897579" cy="897579"/>
            <a:chOff x="0" y="0"/>
            <a:chExt cx="1196772" cy="11967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96721" cy="1196721"/>
            </a:xfrm>
            <a:custGeom>
              <a:avLst/>
              <a:gdLst/>
              <a:ahLst/>
              <a:cxnLst/>
              <a:rect l="l" t="t" r="r" b="b"/>
              <a:pathLst>
                <a:path w="1196721" h="1196721">
                  <a:moveTo>
                    <a:pt x="0" y="598424"/>
                  </a:moveTo>
                  <a:cubicBezTo>
                    <a:pt x="0" y="267970"/>
                    <a:pt x="267970" y="0"/>
                    <a:pt x="598424" y="0"/>
                  </a:cubicBezTo>
                  <a:cubicBezTo>
                    <a:pt x="928878" y="0"/>
                    <a:pt x="1196721" y="267970"/>
                    <a:pt x="1196721" y="598424"/>
                  </a:cubicBezTo>
                  <a:cubicBezTo>
                    <a:pt x="1196721" y="928878"/>
                    <a:pt x="928878" y="1196721"/>
                    <a:pt x="598424" y="1196721"/>
                  </a:cubicBezTo>
                  <a:cubicBezTo>
                    <a:pt x="267970" y="1196721"/>
                    <a:pt x="0" y="928878"/>
                    <a:pt x="0" y="598424"/>
                  </a:cubicBezTo>
                  <a:close/>
                </a:path>
              </a:pathLst>
            </a:custGeom>
            <a:solidFill>
              <a:srgbClr val="2D4DF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466729" y="3489274"/>
            <a:ext cx="358978" cy="553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812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4402" y="4547292"/>
            <a:ext cx="3520230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Data Heterogeneity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84402" y="5090522"/>
            <a:ext cx="4523927" cy="2967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We grapple with diverse data sources: rainfall data at 25 km grids, terrain data from 30 m Digital Elevation Models (DEMs), and sensor data that is often noisy and sparse.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44713" y="3818334"/>
            <a:ext cx="5198421" cy="4577353"/>
            <a:chOff x="0" y="0"/>
            <a:chExt cx="6931228" cy="61031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31279" cy="6103112"/>
            </a:xfrm>
            <a:custGeom>
              <a:avLst/>
              <a:gdLst/>
              <a:ahLst/>
              <a:cxnLst/>
              <a:rect l="l" t="t" r="r" b="b"/>
              <a:pathLst>
                <a:path w="6931279" h="61031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687439" y="0"/>
                  </a:lnTo>
                  <a:cubicBezTo>
                    <a:pt x="6822059" y="0"/>
                    <a:pt x="6931279" y="109220"/>
                    <a:pt x="6931279" y="243840"/>
                  </a:cubicBezTo>
                  <a:lnTo>
                    <a:pt x="6931279" y="5859272"/>
                  </a:lnTo>
                  <a:cubicBezTo>
                    <a:pt x="6931279" y="5993892"/>
                    <a:pt x="6822059" y="6103112"/>
                    <a:pt x="6687439" y="6103112"/>
                  </a:cubicBezTo>
                  <a:lnTo>
                    <a:pt x="243840" y="6103112"/>
                  </a:lnTo>
                  <a:cubicBezTo>
                    <a:pt x="109220" y="6103112"/>
                    <a:pt x="0" y="5993892"/>
                    <a:pt x="0" y="5859272"/>
                  </a:cubicBez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44713" y="3780234"/>
            <a:ext cx="5198421" cy="152400"/>
            <a:chOff x="0" y="0"/>
            <a:chExt cx="6931228" cy="203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31279" cy="203200"/>
            </a:xfrm>
            <a:custGeom>
              <a:avLst/>
              <a:gdLst/>
              <a:ahLst/>
              <a:cxnLst/>
              <a:rect l="l" t="t" r="r" b="b"/>
              <a:pathLst>
                <a:path w="6931279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29679" y="0"/>
                  </a:lnTo>
                  <a:cubicBezTo>
                    <a:pt x="6885813" y="0"/>
                    <a:pt x="6931279" y="45466"/>
                    <a:pt x="6931279" y="101600"/>
                  </a:cubicBezTo>
                  <a:cubicBezTo>
                    <a:pt x="6931279" y="157734"/>
                    <a:pt x="6885813" y="203200"/>
                    <a:pt x="6829679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018CE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695058" y="3369621"/>
            <a:ext cx="897579" cy="897579"/>
            <a:chOff x="0" y="0"/>
            <a:chExt cx="1196772" cy="11967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96721" cy="1196721"/>
            </a:xfrm>
            <a:custGeom>
              <a:avLst/>
              <a:gdLst/>
              <a:ahLst/>
              <a:cxnLst/>
              <a:rect l="l" t="t" r="r" b="b"/>
              <a:pathLst>
                <a:path w="1196721" h="1196721">
                  <a:moveTo>
                    <a:pt x="0" y="598424"/>
                  </a:moveTo>
                  <a:cubicBezTo>
                    <a:pt x="0" y="267970"/>
                    <a:pt x="267970" y="0"/>
                    <a:pt x="598424" y="0"/>
                  </a:cubicBezTo>
                  <a:cubicBezTo>
                    <a:pt x="928878" y="0"/>
                    <a:pt x="1196721" y="267970"/>
                    <a:pt x="1196721" y="598424"/>
                  </a:cubicBezTo>
                  <a:cubicBezTo>
                    <a:pt x="1196721" y="928878"/>
                    <a:pt x="928878" y="1196721"/>
                    <a:pt x="598424" y="1196721"/>
                  </a:cubicBezTo>
                  <a:cubicBezTo>
                    <a:pt x="267970" y="1196721"/>
                    <a:pt x="0" y="928878"/>
                    <a:pt x="0" y="598424"/>
                  </a:cubicBezTo>
                  <a:close/>
                </a:path>
              </a:pathLst>
            </a:custGeom>
            <a:solidFill>
              <a:srgbClr val="2D4DF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8964292" y="3489274"/>
            <a:ext cx="358978" cy="553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812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81965" y="4547292"/>
            <a:ext cx="3520230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Offline Resilience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81965" y="5090522"/>
            <a:ext cx="4523927" cy="2967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Internet infrastructure is often the first casualty during natural disasters, making offline functionality a paramount requirement for any effective early warning system.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042277" y="3818334"/>
            <a:ext cx="5198564" cy="4577353"/>
            <a:chOff x="0" y="0"/>
            <a:chExt cx="6931419" cy="610313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31406" cy="6103112"/>
            </a:xfrm>
            <a:custGeom>
              <a:avLst/>
              <a:gdLst/>
              <a:ahLst/>
              <a:cxnLst/>
              <a:rect l="l" t="t" r="r" b="b"/>
              <a:pathLst>
                <a:path w="6931406" h="61031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687566" y="0"/>
                  </a:lnTo>
                  <a:cubicBezTo>
                    <a:pt x="6822186" y="0"/>
                    <a:pt x="6931406" y="109220"/>
                    <a:pt x="6931406" y="243840"/>
                  </a:cubicBezTo>
                  <a:lnTo>
                    <a:pt x="6931406" y="5859272"/>
                  </a:lnTo>
                  <a:cubicBezTo>
                    <a:pt x="6931406" y="5993892"/>
                    <a:pt x="6822186" y="6103112"/>
                    <a:pt x="6687566" y="6103112"/>
                  </a:cubicBezTo>
                  <a:lnTo>
                    <a:pt x="243840" y="6103112"/>
                  </a:lnTo>
                  <a:cubicBezTo>
                    <a:pt x="109220" y="6103112"/>
                    <a:pt x="0" y="5993892"/>
                    <a:pt x="0" y="5859272"/>
                  </a:cubicBez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042277" y="3780234"/>
            <a:ext cx="5198564" cy="152400"/>
            <a:chOff x="0" y="0"/>
            <a:chExt cx="6931419" cy="203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31406" cy="203200"/>
            </a:xfrm>
            <a:custGeom>
              <a:avLst/>
              <a:gdLst/>
              <a:ahLst/>
              <a:cxnLst/>
              <a:rect l="l" t="t" r="r" b="b"/>
              <a:pathLst>
                <a:path w="6931406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29806" y="0"/>
                  </a:lnTo>
                  <a:cubicBezTo>
                    <a:pt x="6885940" y="0"/>
                    <a:pt x="6931406" y="45466"/>
                    <a:pt x="6931406" y="101600"/>
                  </a:cubicBezTo>
                  <a:cubicBezTo>
                    <a:pt x="6931406" y="157734"/>
                    <a:pt x="6885940" y="203200"/>
                    <a:pt x="6829806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DA33B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192774" y="3369621"/>
            <a:ext cx="897579" cy="897579"/>
            <a:chOff x="0" y="0"/>
            <a:chExt cx="1196772" cy="11967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96721" cy="1196721"/>
            </a:xfrm>
            <a:custGeom>
              <a:avLst/>
              <a:gdLst/>
              <a:ahLst/>
              <a:cxnLst/>
              <a:rect l="l" t="t" r="r" b="b"/>
              <a:pathLst>
                <a:path w="1196721" h="1196721">
                  <a:moveTo>
                    <a:pt x="0" y="598424"/>
                  </a:moveTo>
                  <a:cubicBezTo>
                    <a:pt x="0" y="267970"/>
                    <a:pt x="267970" y="0"/>
                    <a:pt x="598424" y="0"/>
                  </a:cubicBezTo>
                  <a:cubicBezTo>
                    <a:pt x="928878" y="0"/>
                    <a:pt x="1196721" y="267970"/>
                    <a:pt x="1196721" y="598424"/>
                  </a:cubicBezTo>
                  <a:cubicBezTo>
                    <a:pt x="1196721" y="928878"/>
                    <a:pt x="928878" y="1196721"/>
                    <a:pt x="598424" y="1196721"/>
                  </a:cubicBezTo>
                  <a:cubicBezTo>
                    <a:pt x="267970" y="1196721"/>
                    <a:pt x="0" y="928878"/>
                    <a:pt x="0" y="598424"/>
                  </a:cubicBezTo>
                  <a:close/>
                </a:path>
              </a:pathLst>
            </a:custGeom>
            <a:solidFill>
              <a:srgbClr val="2D4DF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4461998" y="3489274"/>
            <a:ext cx="358978" cy="553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812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379528" y="4547292"/>
            <a:ext cx="3520230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Sensor Failure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379528" y="5090522"/>
            <a:ext cx="4524080" cy="2489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Approximately 40% of deployed sensors can fail during heavy storms, posing a significant challenge to data integrity and system reliability.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260387" y="1593362"/>
            <a:ext cx="9335691" cy="178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875"/>
              </a:lnSpc>
            </a:pPr>
            <a:r>
              <a:rPr lang="en-US" sz="55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Our Solution: </a:t>
            </a:r>
            <a:r>
              <a:rPr lang="en-US" sz="5500" b="1" dirty="0" err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LandSense</a:t>
            </a:r>
            <a:endParaRPr lang="en-US" sz="5500" b="1" dirty="0">
              <a:solidFill>
                <a:srgbClr val="00002E"/>
              </a:solidFill>
              <a:latin typeface="Nunito Bold"/>
              <a:ea typeface="Nunito Bold"/>
              <a:cs typeface="Nunito Bold"/>
              <a:sym typeface="Nunito Bold"/>
            </a:endParaRPr>
          </a:p>
          <a:p>
            <a:pPr algn="l">
              <a:lnSpc>
                <a:spcPts val="6875"/>
              </a:lnSpc>
            </a:pPr>
            <a:endParaRPr lang="en-US" sz="5500" b="1" dirty="0">
              <a:solidFill>
                <a:srgbClr val="00002E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905159" y="3220488"/>
            <a:ext cx="9335691" cy="928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50"/>
              </a:lnSpc>
            </a:pPr>
            <a:r>
              <a:rPr lang="en-US" sz="2400" b="1" dirty="0" err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LandSense</a:t>
            </a:r>
            <a:r>
              <a:rPr lang="en-US" sz="2312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is a groundbreaking </a:t>
            </a:r>
            <a:r>
              <a:rPr lang="en-US" sz="2312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terrain-anchored, edge-native ML system</a:t>
            </a:r>
            <a:r>
              <a:rPr lang="en-US" sz="2312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designed to overcome current limitations. It: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05159" y="4514555"/>
            <a:ext cx="9335691" cy="105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8754" lvl="1" indent="-174377" algn="l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Utilizes </a:t>
            </a:r>
            <a:r>
              <a:rPr lang="en-US" sz="2312" b="1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terrain as the fundamental spatial backbone</a:t>
            </a: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for all predictions.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5159" y="5576735"/>
            <a:ext cx="9335691" cy="105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8754" lvl="1" indent="-174377" algn="l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Intelligently converts low-resolution rainfall data into precise </a:t>
            </a:r>
            <a:r>
              <a:rPr lang="en-US" sz="2312" b="1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soil saturation</a:t>
            </a: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estimates.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05159" y="6638925"/>
            <a:ext cx="9335691" cy="105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8754" lvl="1" indent="-174377" algn="l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Operates entirely on </a:t>
            </a:r>
            <a:r>
              <a:rPr lang="en-US" sz="2312" b="1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local district hardware</a:t>
            </a: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, ensuring continuous functionality.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53873" y="8269491"/>
            <a:ext cx="8886977" cy="574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1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Key Insight:</a:t>
            </a: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Terrain defines resolution — sensors refine confidence.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905159" y="8028232"/>
            <a:ext cx="38100" cy="1151782"/>
            <a:chOff x="0" y="0"/>
            <a:chExt cx="50800" cy="153570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" cy="1535684"/>
            </a:xfrm>
            <a:custGeom>
              <a:avLst/>
              <a:gdLst/>
              <a:ahLst/>
              <a:cxnLst/>
              <a:rect l="l" t="t" r="r" b="b"/>
              <a:pathLst>
                <a:path w="50800" h="1535684">
                  <a:moveTo>
                    <a:pt x="0" y="0"/>
                  </a:moveTo>
                  <a:lnTo>
                    <a:pt x="50800" y="0"/>
                  </a:lnTo>
                  <a:lnTo>
                    <a:pt x="50800" y="1535684"/>
                  </a:lnTo>
                  <a:lnTo>
                    <a:pt x="0" y="1535684"/>
                  </a:lnTo>
                  <a:close/>
                </a:path>
              </a:pathLst>
            </a:custGeom>
            <a:solidFill>
              <a:srgbClr val="2D4DF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6D0981C5-292F-C445-AFC1-11600C01EF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D0FBD4-BE3A-F361-9F5A-E8C55263E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820"/>
          <a:stretch>
            <a:fillRect/>
          </a:stretch>
        </p:blipFill>
        <p:spPr>
          <a:xfrm>
            <a:off x="668109" y="192537"/>
            <a:ext cx="5395153" cy="50678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E3FE78F-CFD0-F942-3B19-787EFCEB5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66" b="29403"/>
          <a:stretch>
            <a:fillRect/>
          </a:stretch>
        </p:blipFill>
        <p:spPr>
          <a:xfrm>
            <a:off x="686853" y="5305425"/>
            <a:ext cx="5357663" cy="45225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733800" y="689948"/>
            <a:ext cx="1323514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55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Achieving Hyper-Local Resolution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67042" y="1832219"/>
            <a:ext cx="5973070" cy="72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Our system achieves unprecedented hyper-local resolution by leveraging: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67042" y="3038017"/>
            <a:ext cx="5973070" cy="72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310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Base Layer:</a:t>
            </a: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A high-resolution 30 m Digital Elevation Model (DEM).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67042" y="4416891"/>
            <a:ext cx="5973070" cy="72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310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Terrain Cells:</a:t>
            </a: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Each DEM pixel is treated as a fundamental terrain cell.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67042" y="5966104"/>
            <a:ext cx="5973070" cy="108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310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Operational Zones:</a:t>
            </a: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These cells are then aggregated into precise 100 m² operational zones for risk assessment.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31CAC7-CEF8-E183-5AC5-5500AAA2A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571750"/>
            <a:ext cx="90678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8077" y="11061"/>
            <a:ext cx="18288000" cy="10287000"/>
            <a:chOff x="0" y="-529564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-529564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91200" y="578430"/>
            <a:ext cx="8276482" cy="511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48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Data &amp; Feature Engineering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0600" y="1083951"/>
            <a:ext cx="2112169" cy="32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32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Input Data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8202" y="1667015"/>
            <a:ext cx="7158056" cy="518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69664" lvl="1" indent="-84832" algn="l">
              <a:lnSpc>
                <a:spcPts val="1874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Digital Elevation Model (DEM): Slope angles and drainage patterns.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1504" y="2439353"/>
            <a:ext cx="6788496" cy="2585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69664" lvl="1" indent="-84832" algn="l">
              <a:lnSpc>
                <a:spcPts val="1874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Historical Rainfall: Detailed CSV records for context.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1670" y="4442228"/>
            <a:ext cx="6377758" cy="261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69664" lvl="1" indent="-84832" algn="l">
              <a:lnSpc>
                <a:spcPts val="1874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Vegetation Cover: Assessing density and type.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1502" y="2955563"/>
            <a:ext cx="6583710" cy="505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69664" lvl="1" indent="-84832" algn="l">
              <a:lnSpc>
                <a:spcPts val="1874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Proximity to Water Bodies: Identifying potential saturation zones.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267" y="3732619"/>
            <a:ext cx="6408393" cy="505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69664" lvl="1" indent="-84832" algn="l">
              <a:lnSpc>
                <a:spcPts val="1874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Vibration / Earthquake Signals: Real-time seismic data</a:t>
            </a:r>
            <a:r>
              <a:rPr lang="en-US" sz="240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1670" y="4941300"/>
            <a:ext cx="6172199" cy="505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69664" lvl="1" indent="-84832" algn="l">
              <a:lnSpc>
                <a:spcPts val="1874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Soil Characteristics: Analyzing composition and permeability</a:t>
            </a:r>
            <a:r>
              <a:rPr lang="en-US" sz="240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122280" y="5836673"/>
            <a:ext cx="617033" cy="917807"/>
            <a:chOff x="-18419" y="-20545"/>
            <a:chExt cx="822710" cy="1223743"/>
          </a:xfrm>
        </p:grpSpPr>
        <p:sp>
          <p:nvSpPr>
            <p:cNvPr id="15" name="Freeform 15"/>
            <p:cNvSpPr/>
            <p:nvPr/>
          </p:nvSpPr>
          <p:spPr>
            <a:xfrm>
              <a:off x="6350" y="6350"/>
              <a:ext cx="797941" cy="1196848"/>
            </a:xfrm>
            <a:custGeom>
              <a:avLst/>
              <a:gdLst/>
              <a:ahLst/>
              <a:cxnLst/>
              <a:rect l="l" t="t" r="r" b="b"/>
              <a:pathLst>
                <a:path w="797941" h="1196848">
                  <a:moveTo>
                    <a:pt x="0" y="401066"/>
                  </a:moveTo>
                  <a:cubicBezTo>
                    <a:pt x="0" y="179578"/>
                    <a:pt x="178562" y="0"/>
                    <a:pt x="398907" y="0"/>
                  </a:cubicBezTo>
                  <a:cubicBezTo>
                    <a:pt x="619252" y="0"/>
                    <a:pt x="797941" y="179578"/>
                    <a:pt x="797941" y="401066"/>
                  </a:cubicBezTo>
                  <a:lnTo>
                    <a:pt x="797941" y="795782"/>
                  </a:lnTo>
                  <a:cubicBezTo>
                    <a:pt x="797941" y="1017270"/>
                    <a:pt x="619379" y="1196848"/>
                    <a:pt x="399034" y="1196848"/>
                  </a:cubicBezTo>
                  <a:cubicBezTo>
                    <a:pt x="178689" y="1196848"/>
                    <a:pt x="0" y="1017270"/>
                    <a:pt x="0" y="795782"/>
                  </a:cubicBezTo>
                  <a:close/>
                </a:path>
              </a:pathLst>
            </a:custGeom>
            <a:solidFill>
              <a:srgbClr val="F3F3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-18419" y="-20545"/>
              <a:ext cx="810641" cy="1209548"/>
            </a:xfrm>
            <a:custGeom>
              <a:avLst/>
              <a:gdLst/>
              <a:ahLst/>
              <a:cxnLst/>
              <a:rect l="l" t="t" r="r" b="b"/>
              <a:pathLst>
                <a:path w="810641" h="1209548">
                  <a:moveTo>
                    <a:pt x="0" y="407416"/>
                  </a:moveTo>
                  <a:cubicBezTo>
                    <a:pt x="0" y="182372"/>
                    <a:pt x="181483" y="0"/>
                    <a:pt x="405257" y="0"/>
                  </a:cubicBezTo>
                  <a:cubicBezTo>
                    <a:pt x="407162" y="0"/>
                    <a:pt x="409067" y="889"/>
                    <a:pt x="410210" y="2413"/>
                  </a:cubicBezTo>
                  <a:lnTo>
                    <a:pt x="405257" y="6350"/>
                  </a:lnTo>
                  <a:lnTo>
                    <a:pt x="405257" y="0"/>
                  </a:lnTo>
                  <a:lnTo>
                    <a:pt x="405257" y="6350"/>
                  </a:lnTo>
                  <a:lnTo>
                    <a:pt x="405257" y="0"/>
                  </a:lnTo>
                  <a:cubicBezTo>
                    <a:pt x="629158" y="0"/>
                    <a:pt x="810641" y="182372"/>
                    <a:pt x="810641" y="407416"/>
                  </a:cubicBezTo>
                  <a:lnTo>
                    <a:pt x="810641" y="802132"/>
                  </a:lnTo>
                  <a:lnTo>
                    <a:pt x="804291" y="802132"/>
                  </a:lnTo>
                  <a:lnTo>
                    <a:pt x="810641" y="802132"/>
                  </a:lnTo>
                  <a:cubicBezTo>
                    <a:pt x="810641" y="1027049"/>
                    <a:pt x="629158" y="1209548"/>
                    <a:pt x="405384" y="1209548"/>
                  </a:cubicBezTo>
                  <a:lnTo>
                    <a:pt x="405384" y="1203198"/>
                  </a:lnTo>
                  <a:lnTo>
                    <a:pt x="405384" y="1209548"/>
                  </a:lnTo>
                  <a:cubicBezTo>
                    <a:pt x="181483" y="1209421"/>
                    <a:pt x="0" y="1027049"/>
                    <a:pt x="0" y="802132"/>
                  </a:cubicBezTo>
                  <a:lnTo>
                    <a:pt x="0" y="407416"/>
                  </a:lnTo>
                  <a:lnTo>
                    <a:pt x="6350" y="407416"/>
                  </a:lnTo>
                  <a:lnTo>
                    <a:pt x="0" y="407416"/>
                  </a:lnTo>
                  <a:moveTo>
                    <a:pt x="12700" y="407416"/>
                  </a:moveTo>
                  <a:lnTo>
                    <a:pt x="12700" y="802132"/>
                  </a:lnTo>
                  <a:lnTo>
                    <a:pt x="6350" y="802132"/>
                  </a:lnTo>
                  <a:lnTo>
                    <a:pt x="12700" y="802132"/>
                  </a:lnTo>
                  <a:cubicBezTo>
                    <a:pt x="12700" y="1020064"/>
                    <a:pt x="188468" y="1196721"/>
                    <a:pt x="405257" y="1196721"/>
                  </a:cubicBezTo>
                  <a:cubicBezTo>
                    <a:pt x="622046" y="1196721"/>
                    <a:pt x="797941" y="1020064"/>
                    <a:pt x="797941" y="802132"/>
                  </a:cubicBezTo>
                  <a:lnTo>
                    <a:pt x="797941" y="407416"/>
                  </a:lnTo>
                  <a:lnTo>
                    <a:pt x="804291" y="407416"/>
                  </a:lnTo>
                  <a:lnTo>
                    <a:pt x="797941" y="407416"/>
                  </a:lnTo>
                  <a:cubicBezTo>
                    <a:pt x="797941" y="189357"/>
                    <a:pt x="622046" y="12700"/>
                    <a:pt x="405257" y="12700"/>
                  </a:cubicBezTo>
                  <a:cubicBezTo>
                    <a:pt x="403352" y="12700"/>
                    <a:pt x="401447" y="11811"/>
                    <a:pt x="400304" y="10287"/>
                  </a:cubicBezTo>
                  <a:lnTo>
                    <a:pt x="405257" y="6350"/>
                  </a:lnTo>
                  <a:lnTo>
                    <a:pt x="405257" y="12700"/>
                  </a:lnTo>
                  <a:cubicBezTo>
                    <a:pt x="188468" y="12700"/>
                    <a:pt x="12700" y="189357"/>
                    <a:pt x="12700" y="407416"/>
                  </a:cubicBezTo>
                  <a:close/>
                </a:path>
              </a:pathLst>
            </a:custGeom>
            <a:solidFill>
              <a:srgbClr val="2D4DF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238531" y="6168273"/>
            <a:ext cx="224285" cy="242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75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00004" y="5988255"/>
            <a:ext cx="1847564" cy="458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2000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Soil Saturation (Derived)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111426" y="7129824"/>
            <a:ext cx="607962" cy="907104"/>
            <a:chOff x="0" y="0"/>
            <a:chExt cx="810616" cy="1209472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797941" cy="1196848"/>
            </a:xfrm>
            <a:custGeom>
              <a:avLst/>
              <a:gdLst/>
              <a:ahLst/>
              <a:cxnLst/>
              <a:rect l="l" t="t" r="r" b="b"/>
              <a:pathLst>
                <a:path w="797941" h="1196848">
                  <a:moveTo>
                    <a:pt x="0" y="401066"/>
                  </a:moveTo>
                  <a:cubicBezTo>
                    <a:pt x="0" y="179578"/>
                    <a:pt x="178562" y="0"/>
                    <a:pt x="398907" y="0"/>
                  </a:cubicBezTo>
                  <a:cubicBezTo>
                    <a:pt x="619252" y="0"/>
                    <a:pt x="797941" y="179578"/>
                    <a:pt x="797941" y="401066"/>
                  </a:cubicBezTo>
                  <a:lnTo>
                    <a:pt x="797941" y="795782"/>
                  </a:lnTo>
                  <a:cubicBezTo>
                    <a:pt x="797941" y="1017270"/>
                    <a:pt x="619379" y="1196848"/>
                    <a:pt x="399034" y="1196848"/>
                  </a:cubicBezTo>
                  <a:cubicBezTo>
                    <a:pt x="178689" y="1196848"/>
                    <a:pt x="0" y="1017270"/>
                    <a:pt x="0" y="795782"/>
                  </a:cubicBezTo>
                  <a:close/>
                </a:path>
              </a:pathLst>
            </a:custGeom>
            <a:solidFill>
              <a:srgbClr val="F3F3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810641" cy="1209548"/>
            </a:xfrm>
            <a:custGeom>
              <a:avLst/>
              <a:gdLst/>
              <a:ahLst/>
              <a:cxnLst/>
              <a:rect l="l" t="t" r="r" b="b"/>
              <a:pathLst>
                <a:path w="810641" h="1209548">
                  <a:moveTo>
                    <a:pt x="0" y="407416"/>
                  </a:moveTo>
                  <a:cubicBezTo>
                    <a:pt x="0" y="182372"/>
                    <a:pt x="181483" y="0"/>
                    <a:pt x="405257" y="0"/>
                  </a:cubicBezTo>
                  <a:cubicBezTo>
                    <a:pt x="407162" y="0"/>
                    <a:pt x="409067" y="889"/>
                    <a:pt x="410210" y="2413"/>
                  </a:cubicBezTo>
                  <a:lnTo>
                    <a:pt x="405257" y="6350"/>
                  </a:lnTo>
                  <a:lnTo>
                    <a:pt x="405257" y="0"/>
                  </a:lnTo>
                  <a:lnTo>
                    <a:pt x="405257" y="6350"/>
                  </a:lnTo>
                  <a:lnTo>
                    <a:pt x="405257" y="0"/>
                  </a:lnTo>
                  <a:cubicBezTo>
                    <a:pt x="629158" y="0"/>
                    <a:pt x="810641" y="182372"/>
                    <a:pt x="810641" y="407416"/>
                  </a:cubicBezTo>
                  <a:lnTo>
                    <a:pt x="810641" y="802132"/>
                  </a:lnTo>
                  <a:lnTo>
                    <a:pt x="804291" y="802132"/>
                  </a:lnTo>
                  <a:lnTo>
                    <a:pt x="810641" y="802132"/>
                  </a:lnTo>
                  <a:cubicBezTo>
                    <a:pt x="810641" y="1027049"/>
                    <a:pt x="629158" y="1209548"/>
                    <a:pt x="405384" y="1209548"/>
                  </a:cubicBezTo>
                  <a:lnTo>
                    <a:pt x="405384" y="1203198"/>
                  </a:lnTo>
                  <a:lnTo>
                    <a:pt x="405384" y="1209548"/>
                  </a:lnTo>
                  <a:cubicBezTo>
                    <a:pt x="181483" y="1209421"/>
                    <a:pt x="0" y="1027049"/>
                    <a:pt x="0" y="802132"/>
                  </a:cubicBezTo>
                  <a:lnTo>
                    <a:pt x="0" y="407416"/>
                  </a:lnTo>
                  <a:lnTo>
                    <a:pt x="6350" y="407416"/>
                  </a:lnTo>
                  <a:lnTo>
                    <a:pt x="0" y="407416"/>
                  </a:lnTo>
                  <a:moveTo>
                    <a:pt x="12700" y="407416"/>
                  </a:moveTo>
                  <a:lnTo>
                    <a:pt x="12700" y="802132"/>
                  </a:lnTo>
                  <a:lnTo>
                    <a:pt x="6350" y="802132"/>
                  </a:lnTo>
                  <a:lnTo>
                    <a:pt x="12700" y="802132"/>
                  </a:lnTo>
                  <a:cubicBezTo>
                    <a:pt x="12700" y="1020064"/>
                    <a:pt x="188468" y="1196721"/>
                    <a:pt x="405257" y="1196721"/>
                  </a:cubicBezTo>
                  <a:cubicBezTo>
                    <a:pt x="622046" y="1196721"/>
                    <a:pt x="797941" y="1020064"/>
                    <a:pt x="797941" y="802132"/>
                  </a:cubicBezTo>
                  <a:lnTo>
                    <a:pt x="797941" y="407416"/>
                  </a:lnTo>
                  <a:lnTo>
                    <a:pt x="804291" y="407416"/>
                  </a:lnTo>
                  <a:lnTo>
                    <a:pt x="797941" y="407416"/>
                  </a:lnTo>
                  <a:cubicBezTo>
                    <a:pt x="797941" y="189357"/>
                    <a:pt x="622046" y="12700"/>
                    <a:pt x="405257" y="12700"/>
                  </a:cubicBezTo>
                  <a:cubicBezTo>
                    <a:pt x="403352" y="12700"/>
                    <a:pt x="401447" y="11811"/>
                    <a:pt x="400304" y="10287"/>
                  </a:cubicBezTo>
                  <a:lnTo>
                    <a:pt x="405257" y="6350"/>
                  </a:lnTo>
                  <a:lnTo>
                    <a:pt x="405257" y="12700"/>
                  </a:lnTo>
                  <a:cubicBezTo>
                    <a:pt x="188468" y="12700"/>
                    <a:pt x="12700" y="189357"/>
                    <a:pt x="12700" y="407416"/>
                  </a:cubicBezTo>
                  <a:close/>
                </a:path>
              </a:pathLst>
            </a:custGeom>
            <a:solidFill>
              <a:srgbClr val="018CE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314129" y="7462255"/>
            <a:ext cx="224285" cy="242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75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47009" y="7227054"/>
            <a:ext cx="1830829" cy="458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20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Rainfall (Trigger)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2162141" y="8254727"/>
            <a:ext cx="607962" cy="907104"/>
            <a:chOff x="0" y="0"/>
            <a:chExt cx="810616" cy="1209472"/>
          </a:xfrm>
        </p:grpSpPr>
        <p:sp>
          <p:nvSpPr>
            <p:cNvPr id="25" name="Freeform 25"/>
            <p:cNvSpPr/>
            <p:nvPr/>
          </p:nvSpPr>
          <p:spPr>
            <a:xfrm>
              <a:off x="6350" y="6350"/>
              <a:ext cx="797941" cy="1196848"/>
            </a:xfrm>
            <a:custGeom>
              <a:avLst/>
              <a:gdLst/>
              <a:ahLst/>
              <a:cxnLst/>
              <a:rect l="l" t="t" r="r" b="b"/>
              <a:pathLst>
                <a:path w="797941" h="1196848">
                  <a:moveTo>
                    <a:pt x="0" y="401066"/>
                  </a:moveTo>
                  <a:cubicBezTo>
                    <a:pt x="0" y="179578"/>
                    <a:pt x="178562" y="0"/>
                    <a:pt x="398907" y="0"/>
                  </a:cubicBezTo>
                  <a:cubicBezTo>
                    <a:pt x="619252" y="0"/>
                    <a:pt x="797941" y="179578"/>
                    <a:pt x="797941" y="401066"/>
                  </a:cubicBezTo>
                  <a:lnTo>
                    <a:pt x="797941" y="795782"/>
                  </a:lnTo>
                  <a:cubicBezTo>
                    <a:pt x="797941" y="1017270"/>
                    <a:pt x="619379" y="1196848"/>
                    <a:pt x="399034" y="1196848"/>
                  </a:cubicBezTo>
                  <a:cubicBezTo>
                    <a:pt x="178689" y="1196848"/>
                    <a:pt x="0" y="1017270"/>
                    <a:pt x="0" y="795782"/>
                  </a:cubicBezTo>
                  <a:close/>
                </a:path>
              </a:pathLst>
            </a:custGeom>
            <a:solidFill>
              <a:srgbClr val="F3F3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810641" cy="1209548"/>
            </a:xfrm>
            <a:custGeom>
              <a:avLst/>
              <a:gdLst/>
              <a:ahLst/>
              <a:cxnLst/>
              <a:rect l="l" t="t" r="r" b="b"/>
              <a:pathLst>
                <a:path w="810641" h="1209548">
                  <a:moveTo>
                    <a:pt x="0" y="407416"/>
                  </a:moveTo>
                  <a:cubicBezTo>
                    <a:pt x="0" y="182372"/>
                    <a:pt x="181483" y="0"/>
                    <a:pt x="405257" y="0"/>
                  </a:cubicBezTo>
                  <a:cubicBezTo>
                    <a:pt x="407162" y="0"/>
                    <a:pt x="409067" y="889"/>
                    <a:pt x="410210" y="2413"/>
                  </a:cubicBezTo>
                  <a:lnTo>
                    <a:pt x="405257" y="6350"/>
                  </a:lnTo>
                  <a:lnTo>
                    <a:pt x="405257" y="0"/>
                  </a:lnTo>
                  <a:lnTo>
                    <a:pt x="405257" y="6350"/>
                  </a:lnTo>
                  <a:lnTo>
                    <a:pt x="405257" y="0"/>
                  </a:lnTo>
                  <a:cubicBezTo>
                    <a:pt x="629158" y="0"/>
                    <a:pt x="810641" y="182372"/>
                    <a:pt x="810641" y="407416"/>
                  </a:cubicBezTo>
                  <a:lnTo>
                    <a:pt x="810641" y="802132"/>
                  </a:lnTo>
                  <a:lnTo>
                    <a:pt x="804291" y="802132"/>
                  </a:lnTo>
                  <a:lnTo>
                    <a:pt x="810641" y="802132"/>
                  </a:lnTo>
                  <a:cubicBezTo>
                    <a:pt x="810641" y="1027049"/>
                    <a:pt x="629158" y="1209548"/>
                    <a:pt x="405384" y="1209548"/>
                  </a:cubicBezTo>
                  <a:lnTo>
                    <a:pt x="405384" y="1203198"/>
                  </a:lnTo>
                  <a:lnTo>
                    <a:pt x="405384" y="1209548"/>
                  </a:lnTo>
                  <a:cubicBezTo>
                    <a:pt x="181483" y="1209421"/>
                    <a:pt x="0" y="1027049"/>
                    <a:pt x="0" y="802132"/>
                  </a:cubicBezTo>
                  <a:lnTo>
                    <a:pt x="0" y="407416"/>
                  </a:lnTo>
                  <a:lnTo>
                    <a:pt x="6350" y="407416"/>
                  </a:lnTo>
                  <a:lnTo>
                    <a:pt x="0" y="407416"/>
                  </a:lnTo>
                  <a:moveTo>
                    <a:pt x="12700" y="407416"/>
                  </a:moveTo>
                  <a:lnTo>
                    <a:pt x="12700" y="802132"/>
                  </a:lnTo>
                  <a:lnTo>
                    <a:pt x="6350" y="802132"/>
                  </a:lnTo>
                  <a:lnTo>
                    <a:pt x="12700" y="802132"/>
                  </a:lnTo>
                  <a:cubicBezTo>
                    <a:pt x="12700" y="1020064"/>
                    <a:pt x="188468" y="1196721"/>
                    <a:pt x="405257" y="1196721"/>
                  </a:cubicBezTo>
                  <a:cubicBezTo>
                    <a:pt x="622046" y="1196721"/>
                    <a:pt x="797941" y="1020064"/>
                    <a:pt x="797941" y="802132"/>
                  </a:cubicBezTo>
                  <a:lnTo>
                    <a:pt x="797941" y="407416"/>
                  </a:lnTo>
                  <a:lnTo>
                    <a:pt x="804291" y="407416"/>
                  </a:lnTo>
                  <a:lnTo>
                    <a:pt x="797941" y="407416"/>
                  </a:lnTo>
                  <a:cubicBezTo>
                    <a:pt x="797941" y="189357"/>
                    <a:pt x="622046" y="12700"/>
                    <a:pt x="405257" y="12700"/>
                  </a:cubicBezTo>
                  <a:cubicBezTo>
                    <a:pt x="403352" y="12700"/>
                    <a:pt x="401447" y="11811"/>
                    <a:pt x="400304" y="10287"/>
                  </a:cubicBezTo>
                  <a:lnTo>
                    <a:pt x="405257" y="6350"/>
                  </a:lnTo>
                  <a:lnTo>
                    <a:pt x="405257" y="12700"/>
                  </a:lnTo>
                  <a:cubicBezTo>
                    <a:pt x="188468" y="12700"/>
                    <a:pt x="12700" y="189357"/>
                    <a:pt x="12700" y="407416"/>
                  </a:cubicBezTo>
                  <a:close/>
                </a:path>
              </a:pathLst>
            </a:custGeom>
            <a:solidFill>
              <a:srgbClr val="DA33B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363499" y="8586404"/>
            <a:ext cx="411386" cy="240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75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43766" y="8533097"/>
            <a:ext cx="1760039" cy="24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20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Slope Angle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393047" y="5807702"/>
            <a:ext cx="607962" cy="907104"/>
            <a:chOff x="0" y="0"/>
            <a:chExt cx="810616" cy="1209472"/>
          </a:xfrm>
        </p:grpSpPr>
        <p:sp>
          <p:nvSpPr>
            <p:cNvPr id="30" name="Freeform 30"/>
            <p:cNvSpPr/>
            <p:nvPr/>
          </p:nvSpPr>
          <p:spPr>
            <a:xfrm>
              <a:off x="6350" y="6350"/>
              <a:ext cx="797941" cy="1196848"/>
            </a:xfrm>
            <a:custGeom>
              <a:avLst/>
              <a:gdLst/>
              <a:ahLst/>
              <a:cxnLst/>
              <a:rect l="l" t="t" r="r" b="b"/>
              <a:pathLst>
                <a:path w="797941" h="1196848">
                  <a:moveTo>
                    <a:pt x="0" y="401066"/>
                  </a:moveTo>
                  <a:cubicBezTo>
                    <a:pt x="0" y="179578"/>
                    <a:pt x="178562" y="0"/>
                    <a:pt x="398907" y="0"/>
                  </a:cubicBezTo>
                  <a:cubicBezTo>
                    <a:pt x="619252" y="0"/>
                    <a:pt x="797941" y="179578"/>
                    <a:pt x="797941" y="401066"/>
                  </a:cubicBezTo>
                  <a:lnTo>
                    <a:pt x="797941" y="795782"/>
                  </a:lnTo>
                  <a:cubicBezTo>
                    <a:pt x="797941" y="1017270"/>
                    <a:pt x="619379" y="1196848"/>
                    <a:pt x="399034" y="1196848"/>
                  </a:cubicBezTo>
                  <a:cubicBezTo>
                    <a:pt x="178689" y="1196848"/>
                    <a:pt x="0" y="1017270"/>
                    <a:pt x="0" y="795782"/>
                  </a:cubicBezTo>
                  <a:close/>
                </a:path>
              </a:pathLst>
            </a:custGeom>
            <a:solidFill>
              <a:srgbClr val="F3F3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810641" cy="1209548"/>
            </a:xfrm>
            <a:custGeom>
              <a:avLst/>
              <a:gdLst/>
              <a:ahLst/>
              <a:cxnLst/>
              <a:rect l="l" t="t" r="r" b="b"/>
              <a:pathLst>
                <a:path w="810641" h="1209548">
                  <a:moveTo>
                    <a:pt x="0" y="407416"/>
                  </a:moveTo>
                  <a:cubicBezTo>
                    <a:pt x="0" y="182372"/>
                    <a:pt x="181483" y="0"/>
                    <a:pt x="405257" y="0"/>
                  </a:cubicBezTo>
                  <a:cubicBezTo>
                    <a:pt x="407162" y="0"/>
                    <a:pt x="409067" y="889"/>
                    <a:pt x="410210" y="2413"/>
                  </a:cubicBezTo>
                  <a:lnTo>
                    <a:pt x="405257" y="6350"/>
                  </a:lnTo>
                  <a:lnTo>
                    <a:pt x="405257" y="0"/>
                  </a:lnTo>
                  <a:lnTo>
                    <a:pt x="405257" y="6350"/>
                  </a:lnTo>
                  <a:lnTo>
                    <a:pt x="405257" y="0"/>
                  </a:lnTo>
                  <a:cubicBezTo>
                    <a:pt x="629158" y="0"/>
                    <a:pt x="810641" y="182372"/>
                    <a:pt x="810641" y="407416"/>
                  </a:cubicBezTo>
                  <a:lnTo>
                    <a:pt x="810641" y="802132"/>
                  </a:lnTo>
                  <a:lnTo>
                    <a:pt x="804291" y="802132"/>
                  </a:lnTo>
                  <a:lnTo>
                    <a:pt x="810641" y="802132"/>
                  </a:lnTo>
                  <a:cubicBezTo>
                    <a:pt x="810641" y="1027049"/>
                    <a:pt x="629158" y="1209548"/>
                    <a:pt x="405384" y="1209548"/>
                  </a:cubicBezTo>
                  <a:lnTo>
                    <a:pt x="405384" y="1203198"/>
                  </a:lnTo>
                  <a:lnTo>
                    <a:pt x="405384" y="1209548"/>
                  </a:lnTo>
                  <a:cubicBezTo>
                    <a:pt x="181483" y="1209421"/>
                    <a:pt x="0" y="1027049"/>
                    <a:pt x="0" y="802132"/>
                  </a:cubicBezTo>
                  <a:lnTo>
                    <a:pt x="0" y="407416"/>
                  </a:lnTo>
                  <a:lnTo>
                    <a:pt x="6350" y="407416"/>
                  </a:lnTo>
                  <a:lnTo>
                    <a:pt x="0" y="407416"/>
                  </a:lnTo>
                  <a:moveTo>
                    <a:pt x="12700" y="407416"/>
                  </a:moveTo>
                  <a:lnTo>
                    <a:pt x="12700" y="802132"/>
                  </a:lnTo>
                  <a:lnTo>
                    <a:pt x="6350" y="802132"/>
                  </a:lnTo>
                  <a:lnTo>
                    <a:pt x="12700" y="802132"/>
                  </a:lnTo>
                  <a:cubicBezTo>
                    <a:pt x="12700" y="1020064"/>
                    <a:pt x="188468" y="1196721"/>
                    <a:pt x="405257" y="1196721"/>
                  </a:cubicBezTo>
                  <a:cubicBezTo>
                    <a:pt x="622046" y="1196721"/>
                    <a:pt x="797941" y="1020064"/>
                    <a:pt x="797941" y="802132"/>
                  </a:cubicBezTo>
                  <a:lnTo>
                    <a:pt x="797941" y="407416"/>
                  </a:lnTo>
                  <a:lnTo>
                    <a:pt x="804291" y="407416"/>
                  </a:lnTo>
                  <a:lnTo>
                    <a:pt x="797941" y="407416"/>
                  </a:lnTo>
                  <a:cubicBezTo>
                    <a:pt x="797941" y="189357"/>
                    <a:pt x="622046" y="12700"/>
                    <a:pt x="405257" y="12700"/>
                  </a:cubicBezTo>
                  <a:cubicBezTo>
                    <a:pt x="403352" y="12700"/>
                    <a:pt x="401447" y="11811"/>
                    <a:pt x="400304" y="10287"/>
                  </a:cubicBezTo>
                  <a:lnTo>
                    <a:pt x="405257" y="6350"/>
                  </a:lnTo>
                  <a:lnTo>
                    <a:pt x="405257" y="12700"/>
                  </a:lnTo>
                  <a:cubicBezTo>
                    <a:pt x="188468" y="12700"/>
                    <a:pt x="12700" y="189357"/>
                    <a:pt x="12700" y="407416"/>
                  </a:cubicBezTo>
                  <a:close/>
                </a:path>
              </a:pathLst>
            </a:custGeom>
            <a:solidFill>
              <a:srgbClr val="2D4DF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7620000" y="6168273"/>
            <a:ext cx="224285" cy="242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75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47644" y="7254586"/>
            <a:ext cx="1760039" cy="458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20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Vegetation Cover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393038" y="7020448"/>
            <a:ext cx="607962" cy="907104"/>
            <a:chOff x="0" y="0"/>
            <a:chExt cx="810616" cy="1209472"/>
          </a:xfrm>
        </p:grpSpPr>
        <p:sp>
          <p:nvSpPr>
            <p:cNvPr id="35" name="Freeform 35"/>
            <p:cNvSpPr/>
            <p:nvPr/>
          </p:nvSpPr>
          <p:spPr>
            <a:xfrm>
              <a:off x="6350" y="6350"/>
              <a:ext cx="797941" cy="1196848"/>
            </a:xfrm>
            <a:custGeom>
              <a:avLst/>
              <a:gdLst/>
              <a:ahLst/>
              <a:cxnLst/>
              <a:rect l="l" t="t" r="r" b="b"/>
              <a:pathLst>
                <a:path w="797941" h="1196848">
                  <a:moveTo>
                    <a:pt x="0" y="401066"/>
                  </a:moveTo>
                  <a:cubicBezTo>
                    <a:pt x="0" y="179578"/>
                    <a:pt x="178562" y="0"/>
                    <a:pt x="398907" y="0"/>
                  </a:cubicBezTo>
                  <a:cubicBezTo>
                    <a:pt x="619252" y="0"/>
                    <a:pt x="797941" y="179578"/>
                    <a:pt x="797941" y="401066"/>
                  </a:cubicBezTo>
                  <a:lnTo>
                    <a:pt x="797941" y="795782"/>
                  </a:lnTo>
                  <a:cubicBezTo>
                    <a:pt x="797941" y="1017270"/>
                    <a:pt x="619379" y="1196848"/>
                    <a:pt x="399034" y="1196848"/>
                  </a:cubicBezTo>
                  <a:cubicBezTo>
                    <a:pt x="178689" y="1196848"/>
                    <a:pt x="0" y="1017270"/>
                    <a:pt x="0" y="795782"/>
                  </a:cubicBezTo>
                  <a:close/>
                </a:path>
              </a:pathLst>
            </a:custGeom>
            <a:solidFill>
              <a:srgbClr val="F3F3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0" y="0"/>
              <a:ext cx="810641" cy="1209548"/>
            </a:xfrm>
            <a:custGeom>
              <a:avLst/>
              <a:gdLst/>
              <a:ahLst/>
              <a:cxnLst/>
              <a:rect l="l" t="t" r="r" b="b"/>
              <a:pathLst>
                <a:path w="810641" h="1209548">
                  <a:moveTo>
                    <a:pt x="0" y="407416"/>
                  </a:moveTo>
                  <a:cubicBezTo>
                    <a:pt x="0" y="182372"/>
                    <a:pt x="181483" y="0"/>
                    <a:pt x="405257" y="0"/>
                  </a:cubicBezTo>
                  <a:cubicBezTo>
                    <a:pt x="407162" y="0"/>
                    <a:pt x="409067" y="889"/>
                    <a:pt x="410210" y="2413"/>
                  </a:cubicBezTo>
                  <a:lnTo>
                    <a:pt x="405257" y="6350"/>
                  </a:lnTo>
                  <a:lnTo>
                    <a:pt x="405257" y="0"/>
                  </a:lnTo>
                  <a:lnTo>
                    <a:pt x="405257" y="6350"/>
                  </a:lnTo>
                  <a:lnTo>
                    <a:pt x="405257" y="0"/>
                  </a:lnTo>
                  <a:cubicBezTo>
                    <a:pt x="629158" y="0"/>
                    <a:pt x="810641" y="182372"/>
                    <a:pt x="810641" y="407416"/>
                  </a:cubicBezTo>
                  <a:lnTo>
                    <a:pt x="810641" y="802132"/>
                  </a:lnTo>
                  <a:lnTo>
                    <a:pt x="804291" y="802132"/>
                  </a:lnTo>
                  <a:lnTo>
                    <a:pt x="810641" y="802132"/>
                  </a:lnTo>
                  <a:cubicBezTo>
                    <a:pt x="810641" y="1027049"/>
                    <a:pt x="629158" y="1209548"/>
                    <a:pt x="405384" y="1209548"/>
                  </a:cubicBezTo>
                  <a:lnTo>
                    <a:pt x="405384" y="1203198"/>
                  </a:lnTo>
                  <a:lnTo>
                    <a:pt x="405384" y="1209548"/>
                  </a:lnTo>
                  <a:cubicBezTo>
                    <a:pt x="181483" y="1209421"/>
                    <a:pt x="0" y="1027049"/>
                    <a:pt x="0" y="802132"/>
                  </a:cubicBezTo>
                  <a:lnTo>
                    <a:pt x="0" y="407416"/>
                  </a:lnTo>
                  <a:lnTo>
                    <a:pt x="6350" y="407416"/>
                  </a:lnTo>
                  <a:lnTo>
                    <a:pt x="0" y="407416"/>
                  </a:lnTo>
                  <a:moveTo>
                    <a:pt x="12700" y="407416"/>
                  </a:moveTo>
                  <a:lnTo>
                    <a:pt x="12700" y="802132"/>
                  </a:lnTo>
                  <a:lnTo>
                    <a:pt x="6350" y="802132"/>
                  </a:lnTo>
                  <a:lnTo>
                    <a:pt x="12700" y="802132"/>
                  </a:lnTo>
                  <a:cubicBezTo>
                    <a:pt x="12700" y="1020064"/>
                    <a:pt x="188468" y="1196721"/>
                    <a:pt x="405257" y="1196721"/>
                  </a:cubicBezTo>
                  <a:cubicBezTo>
                    <a:pt x="622046" y="1196721"/>
                    <a:pt x="797941" y="1020064"/>
                    <a:pt x="797941" y="802132"/>
                  </a:cubicBezTo>
                  <a:lnTo>
                    <a:pt x="797941" y="407416"/>
                  </a:lnTo>
                  <a:lnTo>
                    <a:pt x="804291" y="407416"/>
                  </a:lnTo>
                  <a:lnTo>
                    <a:pt x="797941" y="407416"/>
                  </a:lnTo>
                  <a:cubicBezTo>
                    <a:pt x="797941" y="189357"/>
                    <a:pt x="622046" y="12700"/>
                    <a:pt x="405257" y="12700"/>
                  </a:cubicBezTo>
                  <a:cubicBezTo>
                    <a:pt x="403352" y="12700"/>
                    <a:pt x="401447" y="11811"/>
                    <a:pt x="400304" y="10287"/>
                  </a:cubicBezTo>
                  <a:lnTo>
                    <a:pt x="405257" y="6350"/>
                  </a:lnTo>
                  <a:lnTo>
                    <a:pt x="405257" y="12700"/>
                  </a:lnTo>
                  <a:cubicBezTo>
                    <a:pt x="188468" y="12700"/>
                    <a:pt x="12700" y="189357"/>
                    <a:pt x="12700" y="407416"/>
                  </a:cubicBezTo>
                  <a:close/>
                </a:path>
              </a:pathLst>
            </a:custGeom>
            <a:solidFill>
              <a:srgbClr val="018CE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4877838" y="10385974"/>
            <a:ext cx="224285" cy="242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750" b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82058" y="6091008"/>
            <a:ext cx="1760039" cy="458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20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Proximity to Water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EC4D23-1BE7-74EB-15ED-1CEF95B1CA48}"/>
              </a:ext>
            </a:extLst>
          </p:cNvPr>
          <p:cNvSpPr txBox="1"/>
          <p:nvPr/>
        </p:nvSpPr>
        <p:spPr>
          <a:xfrm>
            <a:off x="7515629" y="7271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5362955-1911-9960-FF23-B859EE192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737" y="1671730"/>
            <a:ext cx="6408393" cy="5132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248400" y="453517"/>
            <a:ext cx="12164798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40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ML Model &amp; Explainability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3400" y="1481545"/>
            <a:ext cx="5370563" cy="392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32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Machine Learning Model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1048" y="1998399"/>
            <a:ext cx="71282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We utilize a </a:t>
            </a:r>
            <a:r>
              <a:rPr lang="en-US" sz="2310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Random Forest Classifier</a:t>
            </a: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with 300 trees and an average depth of approximately 9. This model provides a binary output: predicting 'Yes' or 'No' for landslide risk.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1048" y="3657122"/>
            <a:ext cx="3744963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4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Why Random Forest?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1875" y="4111679"/>
            <a:ext cx="7128272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562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Exceptional handling of non-linear geophysical data patterns.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1875" y="4986341"/>
            <a:ext cx="7128272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562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Robustness against data noise and missing sensor inputs.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1875" y="5799368"/>
            <a:ext cx="7128272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562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High explainability through feature importance, crucial for trust.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1048" y="6757961"/>
            <a:ext cx="10726788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310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Model Insight :</a:t>
            </a: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Rainfall is a trigger — soil saturation decides </a:t>
            </a:r>
          </a:p>
          <a:p>
            <a:pPr algn="l">
              <a:lnSpc>
                <a:spcPts val="2562"/>
              </a:lnSpc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failure.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3500" y="7422258"/>
            <a:ext cx="2413845" cy="32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24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Top Predictors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03349" y="7829980"/>
            <a:ext cx="1195194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562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Soil Saturation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03348" y="8174564"/>
            <a:ext cx="1195194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562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Earthquake / Vibration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03348" y="8565493"/>
            <a:ext cx="1195194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562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Rainfall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03347" y="8898918"/>
            <a:ext cx="1195194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562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Proximity to Water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5C9FDDD-39EA-8B28-50CA-75FE085AE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1771480"/>
            <a:ext cx="5981700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EB3F-9471-E292-B568-6A85C172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9800" y="160338"/>
            <a:ext cx="5257800" cy="1143000"/>
          </a:xfrm>
        </p:spPr>
        <p:txBody>
          <a:bodyPr/>
          <a:lstStyle/>
          <a:p>
            <a:r>
              <a:rPr lang="en-US" dirty="0">
                <a:latin typeface="Nunito Bold" panose="020B0604020202020204" charset="0"/>
              </a:rPr>
              <a:t>Flowchart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BF7B29-289B-F5C1-DF4D-BB8AA8455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02" b="-512"/>
          <a:stretch>
            <a:fillRect/>
          </a:stretch>
        </p:blipFill>
        <p:spPr>
          <a:xfrm>
            <a:off x="9853611" y="1104900"/>
            <a:ext cx="8428825" cy="89021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68EFEF-D1E3-E31F-F8AE-C9EE6DFA27EB}"/>
              </a:ext>
            </a:extLst>
          </p:cNvPr>
          <p:cNvSpPr txBox="1"/>
          <p:nvPr/>
        </p:nvSpPr>
        <p:spPr>
          <a:xfrm>
            <a:off x="838200" y="1450822"/>
            <a:ext cx="9448800" cy="8556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Step-wise Explanation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Collect Sensor Data</a:t>
            </a:r>
            <a:br>
              <a:rPr lang="en-US" sz="2200" dirty="0"/>
            </a:br>
            <a:r>
              <a:rPr lang="en-US" sz="2200" dirty="0"/>
              <a:t>Rainfall, vibration, proximity to water, and terrain features are collected.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Sensor Validation</a:t>
            </a:r>
            <a:br>
              <a:rPr lang="en-US" sz="2200" dirty="0"/>
            </a:br>
            <a:r>
              <a:rPr lang="en-US" sz="2200" dirty="0"/>
              <a:t>Sensor readings are checked for noise, drift, or failure.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Sensor Failure Handling</a:t>
            </a:r>
            <a:endParaRPr lang="en-US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If a sensor fails → fallback values are applied and health score is updated.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If healthy → original data is used.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Feature Preparation</a:t>
            </a:r>
            <a:br>
              <a:rPr lang="en-US" sz="2200" dirty="0"/>
            </a:br>
            <a:r>
              <a:rPr lang="en-US" sz="2200" dirty="0"/>
              <a:t>Raw data is converted into meaningful risk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Weight Re-normalization</a:t>
            </a:r>
            <a:br>
              <a:rPr lang="en-US" sz="2200" dirty="0"/>
            </a:br>
            <a:r>
              <a:rPr lang="en-US" sz="2200" dirty="0"/>
              <a:t>Failed sensors are down-weighted instead of stopping the prediction.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ML Risk Prediction Model</a:t>
            </a:r>
            <a:br>
              <a:rPr lang="en-US" sz="2200" dirty="0"/>
            </a:br>
            <a:r>
              <a:rPr lang="en-US" sz="2200" dirty="0"/>
              <a:t>The model predicts landslide risk using prepared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Risk Classification</a:t>
            </a:r>
            <a:br>
              <a:rPr lang="en-US" sz="2200" dirty="0"/>
            </a:br>
            <a:r>
              <a:rPr lang="en-US" sz="2200" dirty="0"/>
              <a:t>Risk is classified as Low / Moderate / High.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Confidence Estimation</a:t>
            </a:r>
            <a:br>
              <a:rPr lang="en-US" sz="2200" dirty="0"/>
            </a:br>
            <a:r>
              <a:rPr lang="en-US" sz="2200" dirty="0"/>
              <a:t>Confidence is calculated based on sensor availability.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Decision Output</a:t>
            </a:r>
            <a:br>
              <a:rPr lang="en-US" sz="2200" dirty="0"/>
            </a:br>
            <a:r>
              <a:rPr lang="en-US" sz="2200" dirty="0"/>
              <a:t>Risk, confidence, and explanation are displayed.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Alert Logic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If Risk ≥ HIGH → Send Alert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Else → Continue Monitoring</a:t>
            </a:r>
          </a:p>
          <a:p>
            <a:br>
              <a:rPr lang="en-US" sz="2200" dirty="0"/>
            </a:b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1194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486400" y="603814"/>
            <a:ext cx="9407282" cy="715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Offline &amp; Failure-Resilient Design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42247" y="1929261"/>
            <a:ext cx="4807153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Offline-First Architecture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42247" y="2526354"/>
            <a:ext cx="6756349" cy="72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The ML model operates entirely on a dedicated </a:t>
            </a:r>
            <a:r>
              <a:rPr lang="en-US" sz="2310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edge device</a:t>
            </a:r>
            <a:r>
              <a:rPr lang="en-US" sz="1812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32721" y="3371665"/>
            <a:ext cx="6756349" cy="72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No live cloud calls are needed, ensuring operation during outages.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32721" y="4203442"/>
            <a:ext cx="6756349" cy="72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Dashboard functionalities and alert systems function </a:t>
            </a:r>
            <a:r>
              <a:rPr lang="en-US" sz="2310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locally</a:t>
            </a: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25000" y="5141712"/>
            <a:ext cx="4273753" cy="407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Sensor Failure Handling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42247" y="5737611"/>
            <a:ext cx="6756349" cy="72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Intelligent algorithms detect and address faulty sensors.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32720" y="6582922"/>
            <a:ext cx="6756349" cy="72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Drift readings are automatically discarded to maintain accuracy.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32719" y="7416390"/>
            <a:ext cx="6756349" cy="72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System </a:t>
            </a:r>
            <a:r>
              <a:rPr lang="en-US" sz="2310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reduces confidence</a:t>
            </a: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in predictions, rather than ceasing them.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254BD1A-DAA3-7FAB-CF7E-B30C3DC5C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631" y="1664511"/>
            <a:ext cx="6454243" cy="65310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DAB1C-C9CC-12B3-A3DA-FE301C535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0820400" cy="1143000"/>
          </a:xfrm>
        </p:spPr>
        <p:txBody>
          <a:bodyPr>
            <a:noAutofit/>
          </a:bodyPr>
          <a:lstStyle/>
          <a:p>
            <a:r>
              <a:rPr lang="en-US" sz="5500" dirty="0">
                <a:latin typeface="Nunito Bold" panose="020B0604020202020204" charset="0"/>
              </a:rPr>
              <a:t>Future Scope of Sentinel-LEWS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4F59F-AEDC-F61A-50AC-1C99A3E06466}"/>
              </a:ext>
            </a:extLst>
          </p:cNvPr>
          <p:cNvSpPr txBox="1"/>
          <p:nvPr/>
        </p:nvSpPr>
        <p:spPr>
          <a:xfrm>
            <a:off x="609600" y="1417638"/>
            <a:ext cx="11201400" cy="7834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10" b="1" dirty="0"/>
              <a:t>1. Multi-Hazard Prediction</a:t>
            </a:r>
            <a:br>
              <a:rPr lang="en-US" sz="2310" dirty="0"/>
            </a:br>
            <a:r>
              <a:rPr lang="en-US" sz="2310" dirty="0"/>
              <a:t>• In the future, the system can be expanded to predict floods, debris flows, and avalanches along with landslides using the same terrain data.</a:t>
            </a:r>
          </a:p>
          <a:p>
            <a:r>
              <a:rPr lang="en-US" sz="2310" b="1" dirty="0"/>
              <a:t>2. Real-Time Sensor Data Usage</a:t>
            </a:r>
            <a:br>
              <a:rPr lang="en-US" sz="2310" dirty="0"/>
            </a:br>
            <a:r>
              <a:rPr lang="en-US" sz="2310" dirty="0"/>
              <a:t>• Live data from sensors such as rainfall, soil moisture, and water level sensors can be used to make predictions more accurate.</a:t>
            </a:r>
          </a:p>
          <a:p>
            <a:r>
              <a:rPr lang="en-US" sz="2310" b="1" dirty="0"/>
              <a:t>3. Drone-Based Area Monitoring</a:t>
            </a:r>
            <a:br>
              <a:rPr lang="en-US" sz="2310" dirty="0"/>
            </a:br>
            <a:r>
              <a:rPr lang="en-US" sz="2310" dirty="0"/>
              <a:t>• Drones can be used to check high-risk areas visually and assess ground conditions after an alert is generated.</a:t>
            </a:r>
          </a:p>
          <a:p>
            <a:r>
              <a:rPr lang="en-US" sz="2310" b="1" dirty="0"/>
              <a:t>4. Safe Shelter and Evacuation Planning</a:t>
            </a:r>
            <a:br>
              <a:rPr lang="en-US" sz="2310" dirty="0"/>
            </a:br>
            <a:r>
              <a:rPr lang="en-US" sz="2310" dirty="0"/>
              <a:t>• The system can automatically suggest safe shelters and the best evacuation routes during emergencies.</a:t>
            </a:r>
          </a:p>
          <a:p>
            <a:r>
              <a:rPr lang="en-US" sz="2310" b="1" dirty="0"/>
              <a:t>5. Self-Improving Prediction Model</a:t>
            </a:r>
            <a:br>
              <a:rPr lang="en-US" sz="2310" dirty="0"/>
            </a:br>
            <a:r>
              <a:rPr lang="en-US" sz="2310" dirty="0"/>
              <a:t>• The model can learn from new disaster events and update itself to give better predictions in the future.</a:t>
            </a:r>
          </a:p>
          <a:p>
            <a:r>
              <a:rPr lang="en-US" sz="2310" b="1" dirty="0"/>
              <a:t>6. Satellite Data Integration</a:t>
            </a:r>
            <a:br>
              <a:rPr lang="en-US" sz="2310" dirty="0"/>
            </a:br>
            <a:r>
              <a:rPr lang="en-US" sz="2310" dirty="0"/>
              <a:t>• Satellite data like rainfall and soil moisture can be used in areas where physical sensors are not available.</a:t>
            </a:r>
          </a:p>
          <a:p>
            <a:r>
              <a:rPr lang="en-US" sz="2310" b="1" dirty="0"/>
              <a:t>7. Large-Scale Deployment</a:t>
            </a:r>
            <a:br>
              <a:rPr lang="en-US" sz="2310" dirty="0"/>
            </a:br>
            <a:r>
              <a:rPr lang="en-US" sz="2310" dirty="0"/>
              <a:t>• The system can be scaled and used across multiple districts and states for better disaster management.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ABD4E5-0628-63F1-3C39-D646BF102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29" b="9267"/>
          <a:stretch>
            <a:fillRect/>
          </a:stretch>
        </p:blipFill>
        <p:spPr>
          <a:xfrm>
            <a:off x="11811000" y="0"/>
            <a:ext cx="6477000" cy="1028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041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73924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343400" y="402319"/>
            <a:ext cx="12019807" cy="717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Validation, Impact &amp; 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77193" y="1934918"/>
            <a:ext cx="3351762" cy="428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Definition of Done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77193" y="2534098"/>
            <a:ext cx="7512691" cy="72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Successfully backtested on historical events, including </a:t>
            </a:r>
          </a:p>
          <a:p>
            <a:pPr marL="136674" lvl="1" algn="l">
              <a:lnSpc>
                <a:spcPts val="2937"/>
              </a:lnSpc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Himachal 2023.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77193" y="3376765"/>
            <a:ext cx="7512691" cy="35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Achieved greater than 4 hours lead time for warnings.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77193" y="3839613"/>
            <a:ext cx="7512691" cy="1098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Initiated local-only 160-character SMS alerts during blackout </a:t>
            </a:r>
          </a:p>
          <a:p>
            <a:pPr marL="136674" lvl="1" algn="l">
              <a:lnSpc>
                <a:spcPts val="2937"/>
              </a:lnSpc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conditions.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43594" y="5113409"/>
            <a:ext cx="3351762" cy="428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Impact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77193" y="5687503"/>
            <a:ext cx="7512691" cy="35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Enables faster, more informed evacuation decisions.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77192" y="6159859"/>
            <a:ext cx="7512691" cy="72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Delivers hyper-local alerts directly to at-risk communities.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77191" y="7026294"/>
            <a:ext cx="7512691" cy="72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Guarantees operation even during critical internet outages.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77191" y="7919574"/>
            <a:ext cx="7512691" cy="35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Designed for scalability across all hill districts.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78653" y="8215760"/>
            <a:ext cx="6041384" cy="1098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37"/>
              </a:lnSpc>
            </a:pPr>
            <a:r>
              <a:rPr lang="en-US" sz="2400" b="1" dirty="0" err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LandSense</a:t>
            </a: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empowers District Disaster Management Officers with the vital tool needed to safeguard lives and livelihoods</a:t>
            </a:r>
            <a:r>
              <a:rPr lang="en-US" sz="1812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276C6B0-49C0-0563-E884-899811C65B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27" b="12688"/>
          <a:stretch>
            <a:fillRect/>
          </a:stretch>
        </p:blipFill>
        <p:spPr>
          <a:xfrm>
            <a:off x="9296400" y="1286337"/>
            <a:ext cx="8763000" cy="58049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1292</Words>
  <Application>Microsoft Office PowerPoint</Application>
  <PresentationFormat>Custom</PresentationFormat>
  <Paragraphs>141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PT Sans Bold</vt:lpstr>
      <vt:lpstr>Nunito Bold</vt:lpstr>
      <vt:lpstr>PT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System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Flowchart</vt:lpstr>
      <vt:lpstr>PowerPoint Presentation</vt:lpstr>
      <vt:lpstr>Future Scope of Sentinel-LEWS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AT -7</dc:creator>
  <cp:lastModifiedBy>Sumanyu Singh</cp:lastModifiedBy>
  <cp:revision>12</cp:revision>
  <dcterms:created xsi:type="dcterms:W3CDTF">2006-08-16T00:00:00Z</dcterms:created>
  <dcterms:modified xsi:type="dcterms:W3CDTF">2026-01-23T06:33:39Z</dcterms:modified>
  <dc:identifier>DAG_Is3yw7g</dc:identifier>
</cp:coreProperties>
</file>